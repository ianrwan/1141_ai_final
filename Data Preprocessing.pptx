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5" r:id="rId8"/>
    <p:sldId id="266" r:id="rId9"/>
    <p:sldId id="264" r:id="rId10"/>
    <p:sldId id="260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FF"/>
    <a:srgbClr val="FFDF79"/>
    <a:srgbClr val="FFFF00"/>
    <a:srgbClr val="96D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FF2B96-9EDC-3924-689E-8FE28B6C0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1746D5B-78D0-C1D5-413D-83A66FE49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5857BB-6AB6-1BE8-8AE8-13483F53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CE86A3-8643-E3BE-4CD0-B088BC9EC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F18D44-2271-0222-2A67-6808DF46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619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23BD7-4DDC-DC7A-33F4-AB78343C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F39FC-B326-0AFD-753F-EB6F2465C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122AE9-932A-0C08-115A-BC4C00E5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23E8EA-0B85-657E-1441-677276A3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E968AF-DD62-1043-BE37-97893D1D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857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E43921-84D8-C1F5-B357-7AFF67CE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77C5DA-2C14-0C92-EB01-15E323264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5ED00A-AEC6-440B-84D0-0B7A6252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B9B96D-0257-1334-B494-64EEFAE9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DC3442-2BBE-0C67-5997-DDF73903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33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A11418-45D6-B9E6-F1AF-D0FB6058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24B36C-C82B-F0F5-5FD3-25734C59B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F3CFF4-2E71-AF7C-192C-22180A1A5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03E4CF-0B03-A68B-97E9-0877983A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E6AA6C-6228-E5EB-4A11-C747DF1B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4AEC29-64EA-DE76-CF80-7CA9E51E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86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7DDCE1-73A5-7DBA-7E67-A90F87ED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FDBC3F-DAFF-956F-B2B0-2A6116EA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44F668-25DE-FC1A-D4D0-D9A7C7391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1BDB12A-F772-87EF-C5BF-4C86D6EAA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824A29-8EA9-DFE7-40CE-81EF351C8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B135CE3-4E29-55A6-74BA-E953CCAF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4074E4-4EB4-BB59-163C-B6F35DF3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269B636-6918-85A6-78CA-30762B07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090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107ED-D5C3-C316-2B8B-F9C07CC4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E8854E2-D631-7C3A-69E5-F6ED25F2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AF2DD9D-F72F-9E4C-FCC9-20FC4E1C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2D24AC7-215D-6CC1-9EB1-27403620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53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853061B-F8EF-5E37-6D84-F3857140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5A45651-B7D1-8468-39C4-F755981E2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B1298F-2942-7568-0D3F-49B4F63E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9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94CA6-5EE3-1ACF-0A4E-00A9E60D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DD28FF-BBFC-633C-B6A4-92D8DC404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BB0902-0B97-4DFF-BE30-0B2537801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DCCD9F-3ADE-672D-08E3-A36E812A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9B2C3B-4D47-F403-B9EA-A6EC7355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3198A3-EA28-F0FF-1376-FC8ECB7A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6672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F8729-BE61-CCEC-26E4-EDBD091D4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F312D93-F9DB-A1B0-6C12-9C47F17D8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7F1577-C9EF-D39F-C270-A46987A40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D73EA5-4DCA-9541-38CD-AB0C398D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122707-8809-5578-DF78-CADEF0D5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437F0A-79A2-6309-B607-93F31B09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29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BE777-0708-A5F1-0044-288D8F1D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3EED1D8-6AFB-039F-B68B-E04867D42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9F9F28-7E1F-23E9-5E11-E1DD2FFB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149C6B-CE18-7E93-8750-47CC4D03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463D33-85CB-A746-BFA3-FF371FAE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43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F0DBDB2-B1A6-031F-AD79-6EE4B68F5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8EA25E2-8960-D88D-5790-D05EFC894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5DAE5C-6B75-463B-99AA-26DDCDE54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718890-5F0C-0176-7DBF-46A01EBF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DFD55C-9812-7381-F58B-B14A5D03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53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4CA308B-D2AA-78E0-6F8E-0CF55745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  <a:endParaRPr kumimoji="1" lang="ja-JP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E1DEE0-7B50-7FCD-A1B6-C01F6FA20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  <a:endParaRPr kumimoji="1" lang="ja-JP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037753-14E4-38EC-F658-78CDF80C5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229B1-2142-43A2-B1FC-38B3295AB2CD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E3656D-5C38-E460-CA11-9A173DE91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900363-214D-0B64-84EA-94C99C4A9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CB070-09C9-4EA2-A85C-31840370C1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651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87298B-9F0C-8B18-95D3-C78B7C20AC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Data Preprocessing</a:t>
            </a:r>
            <a:endParaRPr kumimoji="1" lang="ja-JP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D16EF9-650D-A0A6-B926-6EDCF5DE2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萬宸維</a:t>
            </a:r>
          </a:p>
        </p:txBody>
      </p:sp>
    </p:spTree>
    <p:extLst>
      <p:ext uri="{BB962C8B-B14F-4D97-AF65-F5344CB8AC3E}">
        <p14:creationId xmlns:p14="http://schemas.microsoft.com/office/powerpoint/2010/main" val="77419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C8E9F-1011-6D97-6B15-49A6577D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Function Definition</a:t>
            </a:r>
            <a:endParaRPr kumimoji="1" lang="ja-JP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1ADFA2-A7A1-0DE8-C072-8F5FA7D05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Data Loading</a:t>
            </a:r>
          </a:p>
          <a:p>
            <a:r>
              <a:rPr lang="en-US" altLang="ja-JP" dirty="0"/>
              <a:t>Data Exploration</a:t>
            </a:r>
          </a:p>
          <a:p>
            <a:r>
              <a:rPr kumimoji="1" lang="en-US" altLang="ja-JP" dirty="0"/>
              <a:t>Data Cleaning</a:t>
            </a:r>
          </a:p>
          <a:p>
            <a:r>
              <a:rPr lang="en-US" altLang="ja-JP" dirty="0"/>
              <a:t>Feature Engineering</a:t>
            </a:r>
          </a:p>
          <a:p>
            <a:r>
              <a:rPr kumimoji="1" lang="en-US" altLang="ja-JP" dirty="0"/>
              <a:t>Feature Selection</a:t>
            </a:r>
          </a:p>
          <a:p>
            <a:r>
              <a:rPr lang="en-US" altLang="ja-JP" dirty="0"/>
              <a:t>Feature Scaling, Standardization</a:t>
            </a:r>
          </a:p>
          <a:p>
            <a:r>
              <a:rPr kumimoji="1" lang="en-US" altLang="ja-JP" dirty="0"/>
              <a:t>Data </a:t>
            </a:r>
            <a:r>
              <a:rPr lang="en-US" altLang="ja-JP" dirty="0"/>
              <a:t>Splitting</a:t>
            </a:r>
          </a:p>
          <a:p>
            <a:r>
              <a:rPr kumimoji="1" lang="en-US" altLang="ja-JP" dirty="0"/>
              <a:t>PCA Applying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02768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B44020-D8AA-923F-CAEC-CCCD5CA9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Dataset Introduction</a:t>
            </a:r>
            <a:endParaRPr kumimoji="1" lang="ja-JP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2B78FC-5EA5-4923-ECB4-80B86BE3C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721912"/>
              </p:ext>
            </p:extLst>
          </p:nvPr>
        </p:nvGraphicFramePr>
        <p:xfrm>
          <a:off x="1004454" y="1587883"/>
          <a:ext cx="37338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Dataset of Red Wine Quality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66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F964E-1E5E-3F57-57D7-7B5664AD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17327B-C541-2354-5EFD-56D827B6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Dataset Introduction</a:t>
            </a:r>
            <a:endParaRPr kumimoji="1" lang="ja-JP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19F03D3-9E88-045D-7225-F535356D5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203637"/>
              </p:ext>
            </p:extLst>
          </p:nvPr>
        </p:nvGraphicFramePr>
        <p:xfrm>
          <a:off x="1004454" y="1587883"/>
          <a:ext cx="37338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Dataset of Red Wine Quality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</a:tbl>
          </a:graphicData>
        </a:graphic>
      </p:graphicFrame>
      <p:sp>
        <p:nvSpPr>
          <p:cNvPr id="3" name="右大括弧 2">
            <a:extLst>
              <a:ext uri="{FF2B5EF4-FFF2-40B4-BE49-F238E27FC236}">
                <a16:creationId xmlns:a16="http://schemas.microsoft.com/office/drawing/2014/main" id="{075BA43C-CB93-7E36-27D3-E53D0BBB9322}"/>
              </a:ext>
            </a:extLst>
          </p:cNvPr>
          <p:cNvSpPr/>
          <p:nvPr/>
        </p:nvSpPr>
        <p:spPr>
          <a:xfrm>
            <a:off x="4876799" y="2133600"/>
            <a:ext cx="166255" cy="3740727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96605C-BF61-9B9C-B981-D7D33B8EA79E}"/>
              </a:ext>
            </a:extLst>
          </p:cNvPr>
          <p:cNvSpPr txBox="1"/>
          <p:nvPr/>
        </p:nvSpPr>
        <p:spPr>
          <a:xfrm>
            <a:off x="5414595" y="3865079"/>
            <a:ext cx="1362809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X: Features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右大括弧 5">
            <a:extLst>
              <a:ext uri="{FF2B5EF4-FFF2-40B4-BE49-F238E27FC236}">
                <a16:creationId xmlns:a16="http://schemas.microsoft.com/office/drawing/2014/main" id="{BB0D1A6D-4B48-F19D-C631-4AA752E93E05}"/>
              </a:ext>
            </a:extLst>
          </p:cNvPr>
          <p:cNvSpPr/>
          <p:nvPr/>
        </p:nvSpPr>
        <p:spPr>
          <a:xfrm>
            <a:off x="4876799" y="6074569"/>
            <a:ext cx="166255" cy="334234"/>
          </a:xfrm>
          <a:prstGeom prst="righ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809066-F0E5-9CB1-5BAB-B2D1912C474A}"/>
              </a:ext>
            </a:extLst>
          </p:cNvPr>
          <p:cNvSpPr txBox="1"/>
          <p:nvPr/>
        </p:nvSpPr>
        <p:spPr>
          <a:xfrm>
            <a:off x="5414595" y="6039470"/>
            <a:ext cx="1104020" cy="369332"/>
          </a:xfrm>
          <a:prstGeom prst="rect">
            <a:avLst/>
          </a:prstGeom>
          <a:solidFill>
            <a:srgbClr val="96DCF8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Y: Target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945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41CE-D167-CE44-F522-371ED422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27A67F-4ECA-5FEA-BCB5-6FA983FA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Dataset Introduction</a:t>
            </a:r>
            <a:endParaRPr kumimoji="1" lang="ja-JP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2DB3746-E292-E225-34D0-9209D43A85F0}"/>
              </a:ext>
            </a:extLst>
          </p:cNvPr>
          <p:cNvSpPr txBox="1"/>
          <p:nvPr/>
        </p:nvSpPr>
        <p:spPr>
          <a:xfrm>
            <a:off x="838200" y="2381250"/>
            <a:ext cx="11020966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Consolas" panose="020B0609020204030204" pitchFamily="49" charset="0"/>
              </a:rPr>
              <a:t>"fixed </a:t>
            </a:r>
            <a:r>
              <a:rPr lang="en-US" altLang="ja-JP" sz="900" dirty="0" err="1">
                <a:latin typeface="Consolas" panose="020B0609020204030204" pitchFamily="49" charset="0"/>
              </a:rPr>
              <a:t>acidity";"volatile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acidity";"citric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acid";"residual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sugar";"chlorides";"free</a:t>
            </a:r>
            <a:r>
              <a:rPr lang="en-US" altLang="ja-JP" sz="900" dirty="0">
                <a:latin typeface="Consolas" panose="020B0609020204030204" pitchFamily="49" charset="0"/>
              </a:rPr>
              <a:t> sulfur </a:t>
            </a:r>
            <a:r>
              <a:rPr lang="en-US" altLang="ja-JP" sz="900" dirty="0" err="1">
                <a:latin typeface="Consolas" panose="020B0609020204030204" pitchFamily="49" charset="0"/>
              </a:rPr>
              <a:t>dioxide";"total</a:t>
            </a:r>
            <a:r>
              <a:rPr lang="en-US" altLang="ja-JP" sz="900" dirty="0">
                <a:latin typeface="Consolas" panose="020B0609020204030204" pitchFamily="49" charset="0"/>
              </a:rPr>
              <a:t> sulfur </a:t>
            </a:r>
            <a:r>
              <a:rPr lang="en-US" altLang="ja-JP" sz="900" dirty="0" err="1">
                <a:latin typeface="Consolas" panose="020B0609020204030204" pitchFamily="49" charset="0"/>
              </a:rPr>
              <a:t>dioxide";"density";"pH";"sulphates";"alcohol";"quality</a:t>
            </a:r>
            <a:r>
              <a:rPr lang="en-US" altLang="ja-JP" sz="900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7.4;0.7;0;1.9;0.076;11;34;0.9978;3.51;0.56;9.4;5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7.8;0.88;0;2.6;0.098;25;67;0.9968;3.2;0.68;9.8;5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7.8;0.76;0.04;2.3;0.092;15;54;0.997;3.26;0.65;9.8;5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11.2;0.28;0.56;1.9;0.075;17;60;0.998;3.16;0.58;9.8;6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7.4;0.7;0;1.9;0.076;11;34;0.9978;3.51;0.56;9.4;5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7.4;0.66;0;1.8;0.075;13;40;0.9978;3.51;0.56;9.4;5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7.9;0.6;0.06;1.6;0.069;15;59;0.9964;3.3;0.46;9.4;5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7.3;0.65;0;1.2;0.065;15;21;0.9946;3.39;0.47;10;7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7.8;0.58;0.02;2;0.073;9;18;0.9968;3.36;0.57;9.5;7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7.5;0.5;0.36;6.1;0.071;17;102;0.9978;3.35;0.8;10.5;5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6.7;0.58;0.08;1.8;0.097;15;65;0.9959;3.28;0.54;9.2;5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7.5;0.5;0.36;6.1;0.071;17;102;0.9978;3.35;0.8;10.5;5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5.6;0.615;0;1.6;0.089;16;59;0.9943;3.58;0.52;9.9;5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7.8;0.61;0.29;1.6;0.114;9;29;0.9974;3.26;1.56;9.1;5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8.9;0.62;0.18;3.8;0.176;52;145;0.9986;3.16;0.88;9.2;5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8.9;0.62;0.19;3.9;0.17;51;148;0.9986;3.17;0.93;9.2;5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8.5;0.28;0.56;1.8;0.092;35;103;0.9969;3.3;0.75;10.5;7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8.1;0.56;0.28;1.7;0.368;16;56;0.9968;3.11;1.28;9.3;5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7.4;0.59;0.08;4.4;0.086;6;29;0.9974;3.38;0.5;9;4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7.9;0.32;0.51;1.8;0.341;17;56;0.9969;3.04;1.08;9.2;6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8.9;0.22;0.48;1.8;0.077;29;60;0.9968;3.39;0.53;9.4;6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7.6;0.39;0.31;2.3;0.082;23;71;0.9982;3.52;0.65;9.7;5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7.9;0.43;0.21;1.6;0.106;10;37;0.9966;3.17;0.91;9.5;5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...</a:t>
            </a:r>
            <a:endParaRPr kumimoji="1" lang="ja-JP" altLang="en-US" sz="2400" dirty="0">
              <a:latin typeface="Consolas" panose="020B0609020204030204" pitchFamily="49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939EA90-AE16-45AF-EDF8-955214DEFE2F}"/>
              </a:ext>
            </a:extLst>
          </p:cNvPr>
          <p:cNvSpPr txBox="1"/>
          <p:nvPr/>
        </p:nvSpPr>
        <p:spPr>
          <a:xfrm>
            <a:off x="838200" y="1779104"/>
            <a:ext cx="3451522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Raw Data: 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winequality-red.csv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3015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3E7B-4427-5F9B-B903-A6B9915D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FF146A-4784-B560-D0A9-3FE8CEF15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Dataset Introduction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802723-A7B7-3F2B-D945-C321AAD8F8A4}"/>
              </a:ext>
            </a:extLst>
          </p:cNvPr>
          <p:cNvSpPr txBox="1"/>
          <p:nvPr/>
        </p:nvSpPr>
        <p:spPr>
          <a:xfrm>
            <a:off x="838200" y="1779104"/>
            <a:ext cx="3451522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Raw Data: 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winequality-red.csv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6B1EFB5-C2DD-8FF7-7E48-7E9BA5DDA2DC}"/>
              </a:ext>
            </a:extLst>
          </p:cNvPr>
          <p:cNvSpPr txBox="1"/>
          <p:nvPr/>
        </p:nvSpPr>
        <p:spPr>
          <a:xfrm>
            <a:off x="838200" y="2381250"/>
            <a:ext cx="11020966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Consolas" panose="020B0609020204030204" pitchFamily="49" charset="0"/>
              </a:rPr>
              <a:t>"fixed </a:t>
            </a:r>
            <a:r>
              <a:rPr lang="en-US" altLang="ja-JP" sz="900" dirty="0" err="1">
                <a:latin typeface="Consolas" panose="020B0609020204030204" pitchFamily="49" charset="0"/>
              </a:rPr>
              <a:t>acidity";"volatile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acidity";"citric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acid";"residual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sugar";"chlorides";"free</a:t>
            </a:r>
            <a:r>
              <a:rPr lang="en-US" altLang="ja-JP" sz="900" dirty="0">
                <a:latin typeface="Consolas" panose="020B0609020204030204" pitchFamily="49" charset="0"/>
              </a:rPr>
              <a:t> sulfur </a:t>
            </a:r>
            <a:r>
              <a:rPr lang="en-US" altLang="ja-JP" sz="900" dirty="0" err="1">
                <a:latin typeface="Consolas" panose="020B0609020204030204" pitchFamily="49" charset="0"/>
              </a:rPr>
              <a:t>dioxide";"total</a:t>
            </a:r>
            <a:r>
              <a:rPr lang="en-US" altLang="ja-JP" sz="900" dirty="0">
                <a:latin typeface="Consolas" panose="020B0609020204030204" pitchFamily="49" charset="0"/>
              </a:rPr>
              <a:t> sulfur </a:t>
            </a:r>
            <a:r>
              <a:rPr lang="en-US" altLang="ja-JP" sz="900" dirty="0" err="1">
                <a:latin typeface="Consolas" panose="020B0609020204030204" pitchFamily="49" charset="0"/>
              </a:rPr>
              <a:t>dioxide";"density";"pH";"sulphates";"alcohol";"quality</a:t>
            </a:r>
            <a:r>
              <a:rPr lang="en-US" altLang="ja-JP" sz="900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7.4;0.7;0;1.9;0.076;11;34;0.9978;3.51;0.56;9.4;5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7.8;0.88;0;2.6;0.098;25;67;0.9968;3.2;0.68;9.8;5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7.8;0.76;0.04;2.3;0.092;15;54;0.997;3.26;0.65;9.8;5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11.2;0.28;0.56;1.9;0.075;17;60;0.998;3.16;0.58;9.8;6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7.4;0.7;0;1.9;0.076;11;34;0.9978;3.51;0.56;9.4;5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7.4;0.66;0;1.8;0.075;13;40;0.9978;3.51;0.56;9.4;5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7.9;0.6;0.06;1.6;0.069;15;59;0.9964;3.3;0.46;9.4;5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7.3;0.65;0;1.2;0.065;15;21;0.9946;3.39;0.47;10;7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7.8;0.58;0.02;2;0.073;9;18;0.9968;3.36;0.57;9.5;7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7.5;0.5;0.36;6.1;0.071;17;102;0.9978;3.35;0.8;10.5;5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6.7;0.58;0.08;1.8;0.097;15;65;0.9959;3.28;0.54;9.2;5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7.5;0.5;0.36;6.1;0.071;17;102;0.9978;3.35;0.8;10.5;5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5.6;0.615;0;1.6;0.089;16;59;0.9943;3.58;0.52;9.9;5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7.8;0.61;0.29;1.6;0.114;9;29;0.9974;3.26;1.56;9.1;5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8.9;0.62;0.18;3.8;0.176;52;145;0.9986;3.16;0.88;9.2;5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8.9;0.62;0.19;3.9;0.17;51;148;0.9986;3.17;0.93;9.2;5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8.5;0.28;0.56;1.8;0.092;35;103;0.9969;3.3;0.75;10.5;7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8.1;0.56;0.28;1.7;0.368;16;56;0.9968;3.11;1.28;9.3;5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7.4;0.59;0.08;4.4;0.086;6;29;0.9974;3.38;0.5;9;4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7.9;0.32;0.51;1.8;0.341;17;56;0.9969;3.04;1.08;9.2;6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8.9;0.22;0.48;1.8;0.077;29;60;0.9968;3.39;0.53;9.4;6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7.6;0.39;0.31;2.3;0.082;23;71;0.9982;3.52;0.65;9.7;5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7.9;0.43;0.21;1.6;0.106;10;37;0.9966;3.17;0.91;9.5;5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...</a:t>
            </a:r>
            <a:endParaRPr kumimoji="1" lang="ja-JP" altLang="en-US" sz="2400" dirty="0">
              <a:latin typeface="Consolas" panose="020B06090202040302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5CA809F1-5BED-2844-56FB-FD257CB87027}"/>
              </a:ext>
            </a:extLst>
          </p:cNvPr>
          <p:cNvSpPr/>
          <p:nvPr/>
        </p:nvSpPr>
        <p:spPr>
          <a:xfrm>
            <a:off x="4031248" y="5567363"/>
            <a:ext cx="200342" cy="2003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9DC7BC-104D-15B2-A5D6-8F87A9DA194D}"/>
              </a:ext>
            </a:extLst>
          </p:cNvPr>
          <p:cNvSpPr txBox="1"/>
          <p:nvPr/>
        </p:nvSpPr>
        <p:spPr>
          <a:xfrm>
            <a:off x="5986095" y="5482868"/>
            <a:ext cx="3111749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Raw Data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是使用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「；」分隔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EB4CA48-E66B-FDCC-D02C-7AADDB94A158}"/>
              </a:ext>
            </a:extLst>
          </p:cNvPr>
          <p:cNvCxnSpPr>
            <a:stCxn id="5" idx="6"/>
            <a:endCxn id="6" idx="1"/>
          </p:cNvCxnSpPr>
          <p:nvPr/>
        </p:nvCxnSpPr>
        <p:spPr>
          <a:xfrm>
            <a:off x="4231590" y="5667534"/>
            <a:ext cx="17545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32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94EBA-9AAB-08B1-4A97-AC3A3BA1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42FF5-59BF-6D01-ECE6-D9A5DD8D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Loading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1643C64-AC23-880F-D0E8-45C534016794}"/>
              </a:ext>
            </a:extLst>
          </p:cNvPr>
          <p:cNvSpPr txBox="1"/>
          <p:nvPr/>
        </p:nvSpPr>
        <p:spPr>
          <a:xfrm>
            <a:off x="838200" y="1582340"/>
            <a:ext cx="10395795" cy="3293209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load_wine_data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file_path</a:t>
            </a:r>
            <a:r>
              <a:rPr lang="en-US" altLang="ja-JP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'dataset/winequality-red.csv'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Load wine quality dataset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Note: Data uses semicolon as delimiter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Since data uses semicolon delimiter, we specify separator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altLang="ja-JP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file_path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lang="en-US" altLang="ja-JP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';'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loaded successfully! Total 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rows, 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columns"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FileNotFoundError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"File not found, please check the file path"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07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C9A6-22EB-E751-69C5-FFAEE95A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7AE79B-E709-B26E-B67F-E7F547E9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Loading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A703A6F-BBF8-1553-1ABC-2D1E443B890A}"/>
              </a:ext>
            </a:extLst>
          </p:cNvPr>
          <p:cNvSpPr txBox="1"/>
          <p:nvPr/>
        </p:nvSpPr>
        <p:spPr>
          <a:xfrm>
            <a:off x="838200" y="1582340"/>
            <a:ext cx="10395795" cy="3293209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load_wine_data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file_path</a:t>
            </a:r>
            <a:r>
              <a:rPr lang="en-US" altLang="ja-JP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'dataset/winequality-red.csv'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Load wine quality dataset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Note: Data uses semicolon as delimiter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Since data uses semicolon delimiter, we specify separator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altLang="ja-JP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file_path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lang="en-US" altLang="ja-JP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';'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loaded successfully! Total 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rows, 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columns"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FileNotFoundError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"File not found, please check the file path"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ja-JP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458393-7CA3-93C5-0A26-47B27F83D864}"/>
              </a:ext>
            </a:extLst>
          </p:cNvPr>
          <p:cNvSpPr/>
          <p:nvPr/>
        </p:nvSpPr>
        <p:spPr>
          <a:xfrm>
            <a:off x="1764145" y="3346450"/>
            <a:ext cx="4119420" cy="2557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82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B312D-F56A-67FA-099C-419468C8D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90889-16EA-0F69-83D3-31C73A57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Loading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420ABD9-63B4-D149-A57F-FAF0D0F495FF}"/>
              </a:ext>
            </a:extLst>
          </p:cNvPr>
          <p:cNvSpPr txBox="1"/>
          <p:nvPr/>
        </p:nvSpPr>
        <p:spPr>
          <a:xfrm>
            <a:off x="838200" y="1536348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>
                <a:latin typeface="Consolas" panose="020B0609020204030204" pitchFamily="49" charset="0"/>
              </a:rPr>
              <a:t>df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pd.read_csv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file_path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sep</a:t>
            </a:r>
            <a:r>
              <a:rPr lang="en-US" altLang="ja-JP" dirty="0">
                <a:latin typeface="Consolas" panose="020B0609020204030204" pitchFamily="49" charset="0"/>
              </a:rPr>
              <a:t>=';')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C6AA04-5A5A-8148-E73D-481D9B5D8BA6}"/>
              </a:ext>
            </a:extLst>
          </p:cNvPr>
          <p:cNvSpPr txBox="1"/>
          <p:nvPr/>
        </p:nvSpPr>
        <p:spPr>
          <a:xfrm>
            <a:off x="1016001" y="2822203"/>
            <a:ext cx="2449946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winequality-red.csv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698D00B-EE44-2DCE-DAD8-F82BCA744085}"/>
              </a:ext>
            </a:extLst>
          </p:cNvPr>
          <p:cNvSpPr txBox="1"/>
          <p:nvPr/>
        </p:nvSpPr>
        <p:spPr>
          <a:xfrm>
            <a:off x="3812306" y="2822203"/>
            <a:ext cx="8028711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Consolas" panose="020B0609020204030204" pitchFamily="49" charset="0"/>
              </a:rPr>
              <a:t>"fixed </a:t>
            </a:r>
            <a:r>
              <a:rPr lang="en-US" altLang="ja-JP" sz="900" dirty="0" err="1">
                <a:latin typeface="Consolas" panose="020B0609020204030204" pitchFamily="49" charset="0"/>
              </a:rPr>
              <a:t>acidity";"volatile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acidity";"citric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acid";"residual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sugar";"chlorides";"free</a:t>
            </a:r>
            <a:r>
              <a:rPr lang="en-US" altLang="ja-JP" sz="900" dirty="0">
                <a:latin typeface="Consolas" panose="020B0609020204030204" pitchFamily="49" charset="0"/>
              </a:rPr>
              <a:t> sulfur </a:t>
            </a:r>
            <a:r>
              <a:rPr lang="en-US" altLang="ja-JP" sz="900" dirty="0" err="1">
                <a:latin typeface="Consolas" panose="020B0609020204030204" pitchFamily="49" charset="0"/>
              </a:rPr>
              <a:t>dioxide";"total</a:t>
            </a:r>
            <a:r>
              <a:rPr lang="en-US" altLang="ja-JP" sz="900" dirty="0">
                <a:latin typeface="Consolas" panose="020B0609020204030204" pitchFamily="49" charset="0"/>
              </a:rPr>
              <a:t> sulfur </a:t>
            </a:r>
            <a:r>
              <a:rPr lang="en-US" altLang="ja-JP" sz="900" dirty="0" err="1">
                <a:latin typeface="Consolas" panose="020B0609020204030204" pitchFamily="49" charset="0"/>
              </a:rPr>
              <a:t>dioxide";"density";"pH";"sulphates";"alcohol";"quality</a:t>
            </a:r>
            <a:r>
              <a:rPr lang="en-US" altLang="ja-JP" sz="900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7.4;0.7;0;1.9;0.076;11;34;0.9978;3.51;0.56;9.4;5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7.8;0.88;0;2.6;0.098;25;67;0.9968;3.2;0.68;9.8;5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7.8;0.76;0.04;2.3;0.092;15;54;0.997;3.26;0.65;9.8;5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11.2;0.28;0.56;1.9;0.075;17;60;0.998;3.16;0.58;9.8;6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7.4;0.7;0;1.9;0.076;11;34;0.9978;3.51;0.56;9.4;5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7.4;0.66;0;1.8;0.075;13;40;0.9978;3.51;0.56;9.4;5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7.9;0.6;0.06;1.6;0.069;15;59;0.9964;3.3;0.46;9.4;5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7.3;0.65;0;1.2;0.065;15;21;0.9946;3.39;0.47;10;7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7.8;0.58;0.02;2;0.073;9;18;0.9968;3.36;0.57;9.5;7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991707-3134-3C2D-A0C5-E920D2BAB4A7}"/>
              </a:ext>
            </a:extLst>
          </p:cNvPr>
          <p:cNvSpPr/>
          <p:nvPr/>
        </p:nvSpPr>
        <p:spPr>
          <a:xfrm>
            <a:off x="3009900" y="1536348"/>
            <a:ext cx="124968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61986D-6DDA-5BDC-C832-7BC521B8CD95}"/>
              </a:ext>
            </a:extLst>
          </p:cNvPr>
          <p:cNvSpPr/>
          <p:nvPr/>
        </p:nvSpPr>
        <p:spPr>
          <a:xfrm>
            <a:off x="4381500" y="1536348"/>
            <a:ext cx="96774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337E6D7-75CA-D5BA-A41A-11F2FFDDADF3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2240974" y="1905680"/>
            <a:ext cx="1393766" cy="9165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6147BD6-2456-3B60-6E62-17F5D7A76CB7}"/>
              </a:ext>
            </a:extLst>
          </p:cNvPr>
          <p:cNvCxnSpPr>
            <a:cxnSpLocks/>
            <a:stCxn id="17" idx="2"/>
            <a:endCxn id="22" idx="1"/>
          </p:cNvCxnSpPr>
          <p:nvPr/>
        </p:nvCxnSpPr>
        <p:spPr>
          <a:xfrm>
            <a:off x="4865370" y="1905680"/>
            <a:ext cx="2043192" cy="9672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8E118482-1CA3-D88F-F92E-7A49D9F9D8E2}"/>
              </a:ext>
            </a:extLst>
          </p:cNvPr>
          <p:cNvSpPr/>
          <p:nvPr/>
        </p:nvSpPr>
        <p:spPr>
          <a:xfrm>
            <a:off x="6879223" y="2843635"/>
            <a:ext cx="200342" cy="2003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808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9DD81-69F9-4618-53F9-DF95EFEC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Loading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9C03266-CB1F-5244-31F2-1E15E7855A56}"/>
              </a:ext>
            </a:extLst>
          </p:cNvPr>
          <p:cNvSpPr txBox="1"/>
          <p:nvPr/>
        </p:nvSpPr>
        <p:spPr>
          <a:xfrm>
            <a:off x="838200" y="1536348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>
                <a:latin typeface="Consolas" panose="020B0609020204030204" pitchFamily="49" charset="0"/>
              </a:rPr>
              <a:t>df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pd.read_csv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file_path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sep</a:t>
            </a:r>
            <a:r>
              <a:rPr lang="en-US" altLang="ja-JP" dirty="0">
                <a:latin typeface="Consolas" panose="020B0609020204030204" pitchFamily="49" charset="0"/>
              </a:rPr>
              <a:t>=';')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171AF76-8C0B-3412-0BDC-AA8842076F22}"/>
              </a:ext>
            </a:extLst>
          </p:cNvPr>
          <p:cNvSpPr txBox="1"/>
          <p:nvPr/>
        </p:nvSpPr>
        <p:spPr>
          <a:xfrm>
            <a:off x="1016001" y="2822203"/>
            <a:ext cx="2449946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winequality-red.csv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CABDBBB-3516-F3FE-EA35-EF785F46CDAA}"/>
              </a:ext>
            </a:extLst>
          </p:cNvPr>
          <p:cNvSpPr txBox="1"/>
          <p:nvPr/>
        </p:nvSpPr>
        <p:spPr>
          <a:xfrm>
            <a:off x="1367622" y="5569545"/>
            <a:ext cx="1735155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df</a:t>
            </a:r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DataFrame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ABDCECC-790D-E580-72C6-BC70D8A3F6D4}"/>
              </a:ext>
            </a:extLst>
          </p:cNvPr>
          <p:cNvSpPr txBox="1"/>
          <p:nvPr/>
        </p:nvSpPr>
        <p:spPr>
          <a:xfrm>
            <a:off x="3812306" y="2822203"/>
            <a:ext cx="8028711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Consolas" panose="020B0609020204030204" pitchFamily="49" charset="0"/>
              </a:rPr>
              <a:t>"fixed </a:t>
            </a:r>
            <a:r>
              <a:rPr lang="en-US" altLang="ja-JP" sz="900" dirty="0" err="1">
                <a:latin typeface="Consolas" panose="020B0609020204030204" pitchFamily="49" charset="0"/>
              </a:rPr>
              <a:t>acidity";"volatile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acidity";"citric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acid";"residual</a:t>
            </a:r>
            <a:r>
              <a:rPr lang="en-US" altLang="ja-JP" sz="900" dirty="0">
                <a:latin typeface="Consolas" panose="020B0609020204030204" pitchFamily="49" charset="0"/>
              </a:rPr>
              <a:t> </a:t>
            </a:r>
            <a:r>
              <a:rPr lang="en-US" altLang="ja-JP" sz="900" dirty="0" err="1">
                <a:latin typeface="Consolas" panose="020B0609020204030204" pitchFamily="49" charset="0"/>
              </a:rPr>
              <a:t>sugar";"chlorides";"free</a:t>
            </a:r>
            <a:r>
              <a:rPr lang="en-US" altLang="ja-JP" sz="900" dirty="0">
                <a:latin typeface="Consolas" panose="020B0609020204030204" pitchFamily="49" charset="0"/>
              </a:rPr>
              <a:t> sulfur </a:t>
            </a:r>
            <a:r>
              <a:rPr lang="en-US" altLang="ja-JP" sz="900" dirty="0" err="1">
                <a:latin typeface="Consolas" panose="020B0609020204030204" pitchFamily="49" charset="0"/>
              </a:rPr>
              <a:t>dioxide";"total</a:t>
            </a:r>
            <a:r>
              <a:rPr lang="en-US" altLang="ja-JP" sz="900" dirty="0">
                <a:latin typeface="Consolas" panose="020B0609020204030204" pitchFamily="49" charset="0"/>
              </a:rPr>
              <a:t> sulfur </a:t>
            </a:r>
            <a:r>
              <a:rPr lang="en-US" altLang="ja-JP" sz="900" dirty="0" err="1">
                <a:latin typeface="Consolas" panose="020B0609020204030204" pitchFamily="49" charset="0"/>
              </a:rPr>
              <a:t>dioxide";"density";"pH";"sulphates";"alcohol";"quality</a:t>
            </a:r>
            <a:r>
              <a:rPr lang="en-US" altLang="ja-JP" sz="900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7.4;0.7;0;1.9;0.076;11;34;0.9978;3.51;0.56;9.4;5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7.8;0.88;0;2.6;0.098;25;67;0.9968;3.2;0.68;9.8;5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7.8;0.76;0.04;2.3;0.092;15;54;0.997;3.26;0.65;9.8;5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11.2;0.28;0.56;1.9;0.075;17;60;0.998;3.16;0.58;9.8;6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7.4;0.7;0;1.9;0.076;11;34;0.9978;3.51;0.56;9.4;5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7.4;0.66;0;1.8;0.075;13;40;0.9978;3.51;0.56;9.4;5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7.9;0.6;0.06;1.6;0.069;15;59;0.9964;3.3;0.46;9.4;5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7.3;0.65;0;1.2;0.065;15;21;0.9946;3.39;0.47;10;7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7.8;0.58;0.02;2;0.073;9;18;0.9968;3.36;0.57;9.5;7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28EA4AB-2792-25CD-3E61-22FF90DF6612}"/>
              </a:ext>
            </a:extLst>
          </p:cNvPr>
          <p:cNvSpPr txBox="1"/>
          <p:nvPr/>
        </p:nvSpPr>
        <p:spPr>
          <a:xfrm>
            <a:off x="3812306" y="5569545"/>
            <a:ext cx="802871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Consolas" panose="020B0609020204030204" pitchFamily="49" charset="0"/>
              </a:rPr>
              <a:t> fixed acidity  volatile acidity  citric acid  residual sugar  chlorides  ...  density    pH  sulphates  alcohol  quality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0            7.4              0.70         0.00             1.9      0.076  ...   0.9978  3.51       0.56      9.4        5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1            7.8              0.88         0.00             2.6      0.098  ...   0.9968  3.20       0.68      9.8        5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2            7.8              0.76         0.04             2.3      0.092  ...   0.9970  3.26       0.65      9.8        5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3           11.2              0.28         0.56             1.9      0.075  ...   0.9980  3.16       0.58      9.8        6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4            7.4              0.70         0.00             1.9      0.076  ...   0.9978  3.51       0.56      9.4        5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624CBDD-81D3-6798-6BFD-7B01405477C0}"/>
              </a:ext>
            </a:extLst>
          </p:cNvPr>
          <p:cNvCxnSpPr>
            <a:cxnSpLocks/>
          </p:cNvCxnSpPr>
          <p:nvPr/>
        </p:nvCxnSpPr>
        <p:spPr>
          <a:xfrm>
            <a:off x="-92364" y="5024582"/>
            <a:ext cx="12395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46E40DA6-80FB-4CC5-D1D6-2115FC5B6FB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2235200" y="3191535"/>
            <a:ext cx="5774" cy="23780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45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BC259-42EF-986C-1AD6-DC7558C9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Data Exploration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756586-7B05-CE48-71B2-F021C3B553BD}"/>
              </a:ext>
            </a:extLst>
          </p:cNvPr>
          <p:cNvSpPr txBox="1"/>
          <p:nvPr/>
        </p:nvSpPr>
        <p:spPr>
          <a:xfrm>
            <a:off x="838200" y="1582340"/>
            <a:ext cx="4347665" cy="507831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explore_data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"""Exploratory Data Analysis"""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Data Exploration ==="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Display basic information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"1. First 5 rows of data:"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.head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2. Basic data information:"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shape: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3. Data types:"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.dtypes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4. Statistical summary:"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.describe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Check for missing values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5. Missing values check:"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missing_values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.isnull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().sum()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missing_values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.sum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missing values in data!"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"Missing values situation:"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missing_values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missing_values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35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B2C9-969C-82E9-BFED-74AAFB70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64F269-EA57-DDCD-5BA4-D75741C3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Data Exploration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7EF0AF9-38F4-0FAF-2ECC-4466C9A278C0}"/>
              </a:ext>
            </a:extLst>
          </p:cNvPr>
          <p:cNvSpPr txBox="1"/>
          <p:nvPr/>
        </p:nvSpPr>
        <p:spPr>
          <a:xfrm>
            <a:off x="838200" y="1582340"/>
            <a:ext cx="4347665" cy="507831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explore_data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"""Exploratory Data Analysis"""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Data Exploration ==="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Display basic information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"1. First 5 rows of data:"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.head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2. Basic data information:"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shape: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3. Data types:"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.dtypes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4. Statistical summary:"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.describe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Check for missing values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5. Missing values check:"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missing_values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.isnull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().sum()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missing_values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.sum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missing values in data!"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"Missing values situation:"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missing_values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missing_values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D1EDED-5F90-ED29-433F-D784503EA381}"/>
              </a:ext>
            </a:extLst>
          </p:cNvPr>
          <p:cNvSpPr/>
          <p:nvPr/>
        </p:nvSpPr>
        <p:spPr>
          <a:xfrm>
            <a:off x="1219199" y="4722666"/>
            <a:ext cx="3888510" cy="152111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6E96F4-3A82-1085-738D-3B79F796FC00}"/>
              </a:ext>
            </a:extLst>
          </p:cNvPr>
          <p:cNvSpPr txBox="1"/>
          <p:nvPr/>
        </p:nvSpPr>
        <p:spPr>
          <a:xfrm>
            <a:off x="6872786" y="5298557"/>
            <a:ext cx="3778342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Result: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No missing values in data!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6ACBF8F-2C5F-D85E-B371-36F6D44A0AA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5107709" y="5483223"/>
            <a:ext cx="1765077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B405883-DC89-CEE3-274B-38268268C2F0}"/>
              </a:ext>
            </a:extLst>
          </p:cNvPr>
          <p:cNvSpPr/>
          <p:nvPr/>
        </p:nvSpPr>
        <p:spPr>
          <a:xfrm>
            <a:off x="2927126" y="3243269"/>
            <a:ext cx="878112" cy="25135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9F6D919-BC69-FF79-CD7C-24442F959518}"/>
              </a:ext>
            </a:extLst>
          </p:cNvPr>
          <p:cNvSpPr txBox="1"/>
          <p:nvPr/>
        </p:nvSpPr>
        <p:spPr>
          <a:xfrm>
            <a:off x="6872786" y="3184279"/>
            <a:ext cx="3370859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Result: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Data shape: (1599, 12)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03F7CC0-259D-DAD5-8979-2A2617A30518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3805238" y="3368945"/>
            <a:ext cx="3067548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9D11B80-3E72-F65A-8E22-8AA8EABB88B3}"/>
              </a:ext>
            </a:extLst>
          </p:cNvPr>
          <p:cNvSpPr txBox="1"/>
          <p:nvPr/>
        </p:nvSpPr>
        <p:spPr>
          <a:xfrm>
            <a:off x="9088582" y="2470944"/>
            <a:ext cx="666336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Row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B89E6DA-2824-1512-083E-C8EB6392B677}"/>
              </a:ext>
            </a:extLst>
          </p:cNvPr>
          <p:cNvSpPr txBox="1"/>
          <p:nvPr/>
        </p:nvSpPr>
        <p:spPr>
          <a:xfrm>
            <a:off x="9642663" y="3768238"/>
            <a:ext cx="553357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Col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F9D15563-FB18-B1F9-D657-B8243A8E7329}"/>
              </a:ext>
            </a:extLst>
          </p:cNvPr>
          <p:cNvCxnSpPr>
            <a:endCxn id="19" idx="2"/>
          </p:cNvCxnSpPr>
          <p:nvPr/>
        </p:nvCxnSpPr>
        <p:spPr>
          <a:xfrm flipV="1">
            <a:off x="9421750" y="2840276"/>
            <a:ext cx="0" cy="402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C12AFE43-0544-37C8-E3EF-5E6831A68B8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9919342" y="3494622"/>
            <a:ext cx="0" cy="2736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E8CAEA0-41D4-59DE-B3C2-26C76F43DA55}"/>
              </a:ext>
            </a:extLst>
          </p:cNvPr>
          <p:cNvSpPr txBox="1"/>
          <p:nvPr/>
        </p:nvSpPr>
        <p:spPr>
          <a:xfrm>
            <a:off x="6872786" y="5882516"/>
            <a:ext cx="4852610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 </a:t>
            </a:r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set</a:t>
            </a:r>
            <a:r>
              <a:rPr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沒有任何 </a:t>
            </a:r>
            <a:r>
              <a:rPr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Null</a:t>
            </a:r>
            <a:r>
              <a:rPr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Shape </a:t>
            </a:r>
            <a:r>
              <a:rPr lang="en-US" altLang="ja-JP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不變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5284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F5E36-AD27-DE21-6255-3217DE14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Cleaning</a:t>
            </a:r>
            <a:endParaRPr kumimoji="1" lang="ja-JP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9B88C54-B2ED-D199-9C7C-C500F938A832}"/>
              </a:ext>
            </a:extLst>
          </p:cNvPr>
          <p:cNvSpPr txBox="1"/>
          <p:nvPr/>
        </p:nvSpPr>
        <p:spPr>
          <a:xfrm>
            <a:off x="838200" y="1582340"/>
            <a:ext cx="9275296" cy="314445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clean_data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Clean data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Based on textbook principles: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1. Handle duplicate values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2. Handle outliers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Data Cleaning ==="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Check for duplicate rows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Handle Duplicate Code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Detect outliers (using IQR method)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Handle Outlier Code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Optional: Remove extreme outliers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Here we choose to keep outliers as in wine data, extreme values might represent special quality wines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5E19CF6-401D-9B32-8FEA-878690FADA47}"/>
              </a:ext>
            </a:extLst>
          </p:cNvPr>
          <p:cNvSpPr txBox="1"/>
          <p:nvPr/>
        </p:nvSpPr>
        <p:spPr>
          <a:xfrm>
            <a:off x="838200" y="5759340"/>
            <a:ext cx="3648363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clean_data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Function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做兩件事情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DA3FF4A-20DB-8E9D-ABE0-F7E7D97C4A64}"/>
              </a:ext>
            </a:extLst>
          </p:cNvPr>
          <p:cNvSpPr txBox="1"/>
          <p:nvPr/>
        </p:nvSpPr>
        <p:spPr>
          <a:xfrm>
            <a:off x="5986095" y="5482868"/>
            <a:ext cx="4358244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Handle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Duplicate（將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Duplicate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1ABB22B-6EB0-710E-F0C2-3748FD35423D}"/>
              </a:ext>
            </a:extLst>
          </p:cNvPr>
          <p:cNvSpPr txBox="1"/>
          <p:nvPr/>
        </p:nvSpPr>
        <p:spPr>
          <a:xfrm>
            <a:off x="5986095" y="6128672"/>
            <a:ext cx="3785011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Handle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Outlier（將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Outlier 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994F4EC1-1232-EDEC-3959-43D7F2C6200C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486563" y="5944006"/>
            <a:ext cx="1499532" cy="369332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DE3995CE-206B-246E-A540-6881BBD4461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4486563" y="5667534"/>
            <a:ext cx="1499532" cy="276472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6AD0217-A205-A75A-BDE1-D0A2C7AD5CF9}"/>
              </a:ext>
            </a:extLst>
          </p:cNvPr>
          <p:cNvSpPr/>
          <p:nvPr/>
        </p:nvSpPr>
        <p:spPr>
          <a:xfrm>
            <a:off x="1219199" y="3386138"/>
            <a:ext cx="1893456" cy="20109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72C1FF-B3C4-3607-8047-80CBE20298E6}"/>
              </a:ext>
            </a:extLst>
          </p:cNvPr>
          <p:cNvSpPr/>
          <p:nvPr/>
        </p:nvSpPr>
        <p:spPr>
          <a:xfrm>
            <a:off x="1219199" y="3771900"/>
            <a:ext cx="1893456" cy="18649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5CA0DD46-707F-CDA1-002D-BF149402313C}"/>
              </a:ext>
            </a:extLst>
          </p:cNvPr>
          <p:cNvCxnSpPr>
            <a:stCxn id="18" idx="1"/>
            <a:endCxn id="5" idx="1"/>
          </p:cNvCxnSpPr>
          <p:nvPr/>
        </p:nvCxnSpPr>
        <p:spPr>
          <a:xfrm rot="10800000" flipV="1">
            <a:off x="838201" y="3486686"/>
            <a:ext cx="380999" cy="2457320"/>
          </a:xfrm>
          <a:prstGeom prst="bentConnector3">
            <a:avLst>
              <a:gd name="adj1" fmla="val 160000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3C5FC3A1-3249-478B-E3D7-E62C5E9E5B4E}"/>
              </a:ext>
            </a:extLst>
          </p:cNvPr>
          <p:cNvCxnSpPr>
            <a:stCxn id="19" idx="1"/>
            <a:endCxn id="5" idx="1"/>
          </p:cNvCxnSpPr>
          <p:nvPr/>
        </p:nvCxnSpPr>
        <p:spPr>
          <a:xfrm rot="10800000" flipV="1">
            <a:off x="838201" y="3865148"/>
            <a:ext cx="380999" cy="2078857"/>
          </a:xfrm>
          <a:prstGeom prst="bentConnector3">
            <a:avLst>
              <a:gd name="adj1" fmla="val 160000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884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CFEA0-F04D-F842-3696-3E61F0C6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5AAB8-D0E0-6715-5D70-011A39D4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Cleaning – Handle Duplicate</a:t>
            </a:r>
            <a:endParaRPr kumimoji="1" lang="ja-JP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3F22E4E-B4E6-7391-DD1C-AD9A57A22473}"/>
              </a:ext>
            </a:extLst>
          </p:cNvPr>
          <p:cNvSpPr txBox="1"/>
          <p:nvPr/>
        </p:nvSpPr>
        <p:spPr>
          <a:xfrm>
            <a:off x="838200" y="1582340"/>
            <a:ext cx="6556603" cy="152862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duplicates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.duplicated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().sum()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duplicates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duplicate rows"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duplicates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.drop_duplicates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"After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removing duplicates, data shape: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.copy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C399C01-1B12-30E3-87A3-C08E31B5430E}"/>
              </a:ext>
            </a:extLst>
          </p:cNvPr>
          <p:cNvSpPr txBox="1"/>
          <p:nvPr/>
        </p:nvSpPr>
        <p:spPr>
          <a:xfrm>
            <a:off x="7719291" y="2741632"/>
            <a:ext cx="2688236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Handle Duplicate Code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9830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8EE0-206F-33A0-2568-9AF0C632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2A5CD-8329-1D98-8844-5416BFA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Cleaning – Handle Duplicate</a:t>
            </a:r>
            <a:endParaRPr kumimoji="1" lang="ja-JP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DCE85CA-1632-459A-942F-37AF9048C371}"/>
              </a:ext>
            </a:extLst>
          </p:cNvPr>
          <p:cNvSpPr txBox="1"/>
          <p:nvPr/>
        </p:nvSpPr>
        <p:spPr>
          <a:xfrm>
            <a:off x="838200" y="1582340"/>
            <a:ext cx="6556603" cy="152862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duplicates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.duplicated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().sum()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duplicates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duplicate rows"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duplicates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.drop_duplicates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"After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removing duplicates, data shape: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.copy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25D594-0E31-EE91-1CE5-EF4FF5BEE858}"/>
              </a:ext>
            </a:extLst>
          </p:cNvPr>
          <p:cNvSpPr txBox="1"/>
          <p:nvPr/>
        </p:nvSpPr>
        <p:spPr>
          <a:xfrm>
            <a:off x="7719291" y="2741632"/>
            <a:ext cx="2688236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Handle Duplicate Code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0850F47-B733-AF39-4FB4-B01305AA0E80}"/>
              </a:ext>
            </a:extLst>
          </p:cNvPr>
          <p:cNvSpPr txBox="1"/>
          <p:nvPr/>
        </p:nvSpPr>
        <p:spPr>
          <a:xfrm>
            <a:off x="838200" y="3747037"/>
            <a:ext cx="3772828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Result: 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Found 240 duplicate rows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E63BD9D-91B6-F7DF-DAF8-616A766009D5}"/>
              </a:ext>
            </a:extLst>
          </p:cNvPr>
          <p:cNvSpPr txBox="1"/>
          <p:nvPr/>
        </p:nvSpPr>
        <p:spPr>
          <a:xfrm>
            <a:off x="838200" y="5275660"/>
            <a:ext cx="6065378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Duplicate &gt; 0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將這 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240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個 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Duplicate rows 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4338EC-3E83-6F93-7E8B-C20A52CE5C6B}"/>
              </a:ext>
            </a:extLst>
          </p:cNvPr>
          <p:cNvSpPr/>
          <p:nvPr/>
        </p:nvSpPr>
        <p:spPr>
          <a:xfrm>
            <a:off x="1243012" y="1631950"/>
            <a:ext cx="3700463" cy="37677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B3319DE-6951-C045-5B0A-B2CE4D824710}"/>
              </a:ext>
            </a:extLst>
          </p:cNvPr>
          <p:cNvSpPr txBox="1"/>
          <p:nvPr/>
        </p:nvSpPr>
        <p:spPr>
          <a:xfrm>
            <a:off x="743269" y="6078066"/>
            <a:ext cx="6255239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Result: 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After removing duplicates, data shape: (1359, 12)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012341-8332-2426-E9DC-89964E5E5331}"/>
              </a:ext>
            </a:extLst>
          </p:cNvPr>
          <p:cNvSpPr/>
          <p:nvPr/>
        </p:nvSpPr>
        <p:spPr>
          <a:xfrm>
            <a:off x="1243012" y="2134526"/>
            <a:ext cx="6072188" cy="60710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8F9CE46-B3C2-77DB-0333-D36EE349FE14}"/>
              </a:ext>
            </a:extLst>
          </p:cNvPr>
          <p:cNvCxnSpPr>
            <a:cxnSpLocks/>
            <a:stCxn id="8" idx="1"/>
            <a:endCxn id="6" idx="1"/>
          </p:cNvCxnSpPr>
          <p:nvPr/>
        </p:nvCxnSpPr>
        <p:spPr>
          <a:xfrm rot="10800000" flipV="1">
            <a:off x="838200" y="1820337"/>
            <a:ext cx="404812" cy="2111366"/>
          </a:xfrm>
          <a:prstGeom prst="bentConnector3">
            <a:avLst>
              <a:gd name="adj1" fmla="val 156471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B5773883-D2F3-3E6D-A7D1-4DCD71D9A2DC}"/>
              </a:ext>
            </a:extLst>
          </p:cNvPr>
          <p:cNvCxnSpPr>
            <a:stCxn id="13" idx="1"/>
            <a:endCxn id="7" idx="1"/>
          </p:cNvCxnSpPr>
          <p:nvPr/>
        </p:nvCxnSpPr>
        <p:spPr>
          <a:xfrm rot="10800000" flipV="1">
            <a:off x="838200" y="2438078"/>
            <a:ext cx="404812" cy="3022247"/>
          </a:xfrm>
          <a:prstGeom prst="bentConnector3">
            <a:avLst>
              <a:gd name="adj1" fmla="val 22705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5CA3FD0-01FC-AD90-D7B4-21B3551D04C8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3870889" y="5644992"/>
            <a:ext cx="0" cy="4330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35C00EE-A436-F787-0969-77A86C327705}"/>
              </a:ext>
            </a:extLst>
          </p:cNvPr>
          <p:cNvSpPr txBox="1"/>
          <p:nvPr/>
        </p:nvSpPr>
        <p:spPr>
          <a:xfrm>
            <a:off x="8407548" y="6078066"/>
            <a:ext cx="3437159" cy="369332"/>
          </a:xfrm>
          <a:prstGeom prst="rect">
            <a:avLst/>
          </a:prstGeom>
          <a:solidFill>
            <a:srgbClr val="FFFF99"/>
          </a:solidFill>
          <a:ln w="38100">
            <a:solidFill>
              <a:srgbClr val="FFDF79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原本的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Data shape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(1599, 12)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34A9CFF-6EDF-7FC4-FFBF-44BE34B655E3}"/>
              </a:ext>
            </a:extLst>
          </p:cNvPr>
          <p:cNvCxnSpPr>
            <a:stCxn id="26" idx="1"/>
            <a:endCxn id="9" idx="3"/>
          </p:cNvCxnSpPr>
          <p:nvPr/>
        </p:nvCxnSpPr>
        <p:spPr>
          <a:xfrm flipH="1">
            <a:off x="6998508" y="6262732"/>
            <a:ext cx="1409040" cy="0"/>
          </a:xfrm>
          <a:prstGeom prst="straightConnector1">
            <a:avLst/>
          </a:prstGeom>
          <a:ln w="38100">
            <a:solidFill>
              <a:srgbClr val="FFDF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677DB8A-31E1-29E5-3AF3-A1ACDCE871EA}"/>
              </a:ext>
            </a:extLst>
          </p:cNvPr>
          <p:cNvSpPr txBox="1"/>
          <p:nvPr/>
        </p:nvSpPr>
        <p:spPr>
          <a:xfrm>
            <a:off x="7087956" y="5938101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1599-240 = 1359</a:t>
            </a:r>
            <a:endParaRPr kumimoji="1" lang="ja-JP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0441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5EB231-262A-2FF0-AE2C-AE534298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Cleaning – Handle Outlier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DBC5810-B9D7-2DC7-C196-ECD8A6345DE0}"/>
              </a:ext>
            </a:extLst>
          </p:cNvPr>
          <p:cNvSpPr txBox="1"/>
          <p:nvPr/>
        </p:nvSpPr>
        <p:spPr>
          <a:xfrm>
            <a:off x="838200" y="1582340"/>
            <a:ext cx="7661072" cy="134908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.quantile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.quantile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))).sum()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 of outliers per feature:"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893BB153-2D6B-9FFC-5B2B-30B025DC8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38499"/>
            <a:ext cx="3208414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511095F-7548-9612-08FA-761374033377}"/>
              </a:ext>
            </a:extLst>
          </p:cNvPr>
          <p:cNvSpPr txBox="1"/>
          <p:nvPr/>
        </p:nvSpPr>
        <p:spPr>
          <a:xfrm>
            <a:off x="8871816" y="2562095"/>
            <a:ext cx="2401619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Handle Outlier Code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7216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E2E2-2082-F89E-73DF-90A33FA28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377423-5B8B-B38D-0D47-905F0FA8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Cleaning – Handle Outlier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0B85F02-C11E-4BA1-CAA6-9C736B68B7ED}"/>
              </a:ext>
            </a:extLst>
          </p:cNvPr>
          <p:cNvSpPr txBox="1"/>
          <p:nvPr/>
        </p:nvSpPr>
        <p:spPr>
          <a:xfrm>
            <a:off x="838200" y="1582340"/>
            <a:ext cx="7661072" cy="134908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.quantile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.quantile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))).sum()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 of outliers per feature:"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9A2D67B-BEEC-0E4A-3642-09E56CBA8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38499"/>
            <a:ext cx="3208414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D00DE07-E0B5-EA3E-27AE-34A93A22DB2D}"/>
              </a:ext>
            </a:extLst>
          </p:cNvPr>
          <p:cNvSpPr txBox="1"/>
          <p:nvPr/>
        </p:nvSpPr>
        <p:spPr>
          <a:xfrm>
            <a:off x="8871816" y="2562095"/>
            <a:ext cx="2401619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Handle Outlier Code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60AFEE-6A75-46EC-25DB-F7CE533DA938}"/>
              </a:ext>
            </a:extLst>
          </p:cNvPr>
          <p:cNvSpPr/>
          <p:nvPr/>
        </p:nvSpPr>
        <p:spPr>
          <a:xfrm>
            <a:off x="1243012" y="1631950"/>
            <a:ext cx="7108508" cy="88741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C247F748-DDFD-BF81-E2EA-A7EC23780D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736105"/>
                  </p:ext>
                </p:extLst>
              </p:nvPr>
            </p:nvGraphicFramePr>
            <p:xfrm>
              <a:off x="4668736" y="3926574"/>
              <a:ext cx="7178040" cy="23997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8509">
                      <a:extLst>
                        <a:ext uri="{9D8B030D-6E8A-4147-A177-3AD203B41FA5}">
                          <a16:colId xmlns:a16="http://schemas.microsoft.com/office/drawing/2014/main" val="331734725"/>
                        </a:ext>
                      </a:extLst>
                    </a:gridCol>
                    <a:gridCol w="4439531">
                      <a:extLst>
                        <a:ext uri="{9D8B030D-6E8A-4147-A177-3AD203B41FA5}">
                          <a16:colId xmlns:a16="http://schemas.microsoft.com/office/drawing/2014/main" val="36231256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IQR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Definition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770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25%（</a:t>
                          </a:r>
                          <a:r>
                            <a:rPr kumimoji="1" lang="en-US" altLang="ja-JP" dirty="0" err="1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後百分之</a:t>
                          </a:r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 25）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9276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50%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306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75%（</a:t>
                          </a:r>
                          <a:r>
                            <a:rPr kumimoji="1" lang="en-US" altLang="ja-JP" dirty="0" err="1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後百分之</a:t>
                          </a:r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 75）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1289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𝐼𝑄𝑅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b="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946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outlier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𝑥</m:t>
                                </m:r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 </m:t>
                                </m:r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𝑖𝑠</m:t>
                                </m:r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 </m:t>
                                </m:r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𝑜𝑢𝑡𝑙𝑖𝑒𝑟</m:t>
                                </m:r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, </m:t>
                                </m:r>
                              </m:oMath>
                              <m:oMath xmlns:m="http://schemas.openxmlformats.org/officeDocument/2006/math"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𝑖𝑓</m:t>
                                </m:r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𝑥</m:t>
                                    </m:r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&lt;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sz="1400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ja-JP" sz="1400" b="0" i="1" smtClean="0">
                                                <a:latin typeface="Cambria Math" panose="02040503050406030204" pitchFamily="18" charset="0"/>
                                                <a:ea typeface="微軟正黑體" panose="020B0604030504040204" pitchFamily="34" charset="-12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sz="1400" b="0" i="1" smtClean="0">
                                                <a:latin typeface="Cambria Math" panose="02040503050406030204" pitchFamily="18" charset="0"/>
                                                <a:ea typeface="微軟正黑體" panose="020B0604030504040204" pitchFamily="34" charset="-12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sz="1400" b="0" i="1" smtClean="0">
                                                <a:latin typeface="Cambria Math" panose="02040503050406030204" pitchFamily="18" charset="0"/>
                                                <a:ea typeface="微軟正黑體" panose="020B0604030504040204" pitchFamily="34" charset="-12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ja-JP" sz="1400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  <m:t>−1.5∗</m:t>
                                        </m:r>
                                        <m:r>
                                          <a:rPr kumimoji="1" lang="en-US" altLang="ja-JP" sz="1400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  <m:t>𝐼𝑄𝑅</m:t>
                                        </m:r>
                                      </m:e>
                                    </m:d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 </m:t>
                                    </m:r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&gt;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ja-JP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ja-JP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+1.5∗</m:t>
                                        </m:r>
                                        <m:r>
                                          <a:rPr kumimoji="1" lang="en-US" altLang="ja-JP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𝐼𝑄𝑅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4141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C247F748-DDFD-BF81-E2EA-A7EC23780D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736105"/>
                  </p:ext>
                </p:extLst>
              </p:nvPr>
            </p:nvGraphicFramePr>
            <p:xfrm>
              <a:off x="4668736" y="3926574"/>
              <a:ext cx="7178040" cy="23997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8509">
                      <a:extLst>
                        <a:ext uri="{9D8B030D-6E8A-4147-A177-3AD203B41FA5}">
                          <a16:colId xmlns:a16="http://schemas.microsoft.com/office/drawing/2014/main" val="331734725"/>
                        </a:ext>
                      </a:extLst>
                    </a:gridCol>
                    <a:gridCol w="4439531">
                      <a:extLst>
                        <a:ext uri="{9D8B030D-6E8A-4147-A177-3AD203B41FA5}">
                          <a16:colId xmlns:a16="http://schemas.microsoft.com/office/drawing/2014/main" val="36231256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IQR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Definition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770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" t="-108197" r="-162444" b="-4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25%（</a:t>
                          </a:r>
                          <a:r>
                            <a:rPr kumimoji="1" lang="en-US" altLang="ja-JP" dirty="0" err="1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後百分之</a:t>
                          </a:r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 25）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9276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" t="-208197" r="-162444" b="-3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50%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306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" t="-308197" r="-162444" b="-2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75%（</a:t>
                          </a:r>
                          <a:r>
                            <a:rPr kumimoji="1" lang="en-US" altLang="ja-JP" dirty="0" err="1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後百分之</a:t>
                          </a:r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 75）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1289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" t="-415000" r="-162444" b="-1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1866" t="-415000" r="-274" b="-1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946160"/>
                      </a:ext>
                    </a:extLst>
                  </a:tr>
                  <a:tr h="5455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outlier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1866" t="-343333" r="-274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41415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05997D49-F026-38CA-A14D-B44FEDD52542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797266" y="2519364"/>
            <a:ext cx="3460490" cy="14072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171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411A9-AE87-0057-DD7B-2B6374692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46976A-026E-06B8-BC7E-D36C810E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Cleaning – Handle Outlier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390815-AEB5-4668-05E8-2DA33A81589C}"/>
              </a:ext>
            </a:extLst>
          </p:cNvPr>
          <p:cNvSpPr txBox="1"/>
          <p:nvPr/>
        </p:nvSpPr>
        <p:spPr>
          <a:xfrm>
            <a:off x="838200" y="1582340"/>
            <a:ext cx="7661072" cy="134908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.quantile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.quantile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))).sum()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 of outliers per feature:"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7701133-A895-2527-05A7-4DEB10B87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38499"/>
            <a:ext cx="3208414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355CABF-5F26-6126-B732-317B71E0258D}"/>
              </a:ext>
            </a:extLst>
          </p:cNvPr>
          <p:cNvSpPr txBox="1"/>
          <p:nvPr/>
        </p:nvSpPr>
        <p:spPr>
          <a:xfrm>
            <a:off x="8871816" y="2562095"/>
            <a:ext cx="2401619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Handle Outlier Code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8FABA8-9A75-5372-8173-D438337A8220}"/>
              </a:ext>
            </a:extLst>
          </p:cNvPr>
          <p:cNvSpPr/>
          <p:nvPr/>
        </p:nvSpPr>
        <p:spPr>
          <a:xfrm>
            <a:off x="1243012" y="2508250"/>
            <a:ext cx="3481388" cy="39965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6671227-CCF0-4F3E-304E-BCC32AF9A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9506"/>
              </p:ext>
            </p:extLst>
          </p:nvPr>
        </p:nvGraphicFramePr>
        <p:xfrm>
          <a:off x="5290858" y="3238499"/>
          <a:ext cx="3208414" cy="3495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207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  <a:gridCol w="1604207">
                  <a:extLst>
                    <a:ext uri="{9D8B030D-6E8A-4147-A177-3AD203B41FA5}">
                      <a16:colId xmlns:a16="http://schemas.microsoft.com/office/drawing/2014/main" val="2224743815"/>
                    </a:ext>
                  </a:extLst>
                </a:gridCol>
              </a:tblGrid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Outlier Per Feature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Outliers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E86CD86-03CE-2D16-FC6F-1AD58397B332}"/>
              </a:ext>
            </a:extLst>
          </p:cNvPr>
          <p:cNvCxnSpPr>
            <a:cxnSpLocks/>
            <a:stCxn id="4" idx="2"/>
            <a:endCxn id="7" idx="1"/>
          </p:cNvCxnSpPr>
          <p:nvPr/>
        </p:nvCxnSpPr>
        <p:spPr>
          <a:xfrm>
            <a:off x="2983706" y="2907903"/>
            <a:ext cx="2307152" cy="207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69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30064-4755-1C9E-E1E0-9C18DAD6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CE108F-D5C8-F132-E699-F316D2A5B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Cleaning – Handle Outlier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D3704C9-9E22-CFA2-0BCB-0B1E83FAD32C}"/>
              </a:ext>
            </a:extLst>
          </p:cNvPr>
          <p:cNvSpPr txBox="1"/>
          <p:nvPr/>
        </p:nvSpPr>
        <p:spPr>
          <a:xfrm>
            <a:off x="838200" y="1582340"/>
            <a:ext cx="7661072" cy="134908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.quantile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.quantile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))).sum()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 of outliers per feature:"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EE93455-93BB-C640-841F-BD1BDFAD5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38499"/>
            <a:ext cx="3208414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AB4287D-01CB-058B-6D9C-2C0C702461E2}"/>
              </a:ext>
            </a:extLst>
          </p:cNvPr>
          <p:cNvSpPr txBox="1"/>
          <p:nvPr/>
        </p:nvSpPr>
        <p:spPr>
          <a:xfrm>
            <a:off x="8871816" y="2562095"/>
            <a:ext cx="2401619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Handle Outlier Code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9AA974-98F2-EAE8-02D7-B6142C8EFDA2}"/>
              </a:ext>
            </a:extLst>
          </p:cNvPr>
          <p:cNvSpPr/>
          <p:nvPr/>
        </p:nvSpPr>
        <p:spPr>
          <a:xfrm>
            <a:off x="1243012" y="2508250"/>
            <a:ext cx="3481388" cy="39965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AE5AC28-9346-AC9A-D87B-EA28ACA4B508}"/>
              </a:ext>
            </a:extLst>
          </p:cNvPr>
          <p:cNvGraphicFramePr>
            <a:graphicFrameLocks noGrp="1"/>
          </p:cNvGraphicFramePr>
          <p:nvPr/>
        </p:nvGraphicFramePr>
        <p:xfrm>
          <a:off x="5290858" y="3238499"/>
          <a:ext cx="3208414" cy="3495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207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  <a:gridCol w="1604207">
                  <a:extLst>
                    <a:ext uri="{9D8B030D-6E8A-4147-A177-3AD203B41FA5}">
                      <a16:colId xmlns:a16="http://schemas.microsoft.com/office/drawing/2014/main" val="2224743815"/>
                    </a:ext>
                  </a:extLst>
                </a:gridCol>
              </a:tblGrid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Outlier Per Feature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Outliers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3470FC7-9680-D21E-0BED-0650BAECCE64}"/>
              </a:ext>
            </a:extLst>
          </p:cNvPr>
          <p:cNvCxnSpPr>
            <a:cxnSpLocks/>
            <a:stCxn id="4" idx="2"/>
            <a:endCxn id="7" idx="1"/>
          </p:cNvCxnSpPr>
          <p:nvPr/>
        </p:nvCxnSpPr>
        <p:spPr>
          <a:xfrm>
            <a:off x="2983706" y="2907903"/>
            <a:ext cx="2307152" cy="207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B90EABC5-6CA7-95D8-4F74-0A5EB041E16A}"/>
              </a:ext>
            </a:extLst>
          </p:cNvPr>
          <p:cNvSpPr txBox="1"/>
          <p:nvPr/>
        </p:nvSpPr>
        <p:spPr>
          <a:xfrm>
            <a:off x="8871816" y="4702848"/>
            <a:ext cx="2873686" cy="2031325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最終選擇保留 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Outlier</a:t>
            </a:r>
          </a:p>
          <a:p>
            <a:pPr marL="342900" indent="-342900">
              <a:buAutoNum type="arabicPeriod"/>
            </a:pPr>
            <a:r>
              <a: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如果將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Outlier </a:t>
            </a:r>
            <a:r>
              <a: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全部刪除可能造成 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Dataset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過少</a:t>
            </a:r>
            <a:endParaRPr kumimoji="1" lang="en-US" altLang="ja-JP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red wine Dataset 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中，部分 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Outlier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可能代表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好的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酒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8279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C0AB2E-1DFD-A510-B3F8-4F4F9254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Engineering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16B9FB-9EB6-0589-3309-5B37BEDF79CD}"/>
              </a:ext>
            </a:extLst>
          </p:cNvPr>
          <p:cNvSpPr txBox="1"/>
          <p:nvPr/>
        </p:nvSpPr>
        <p:spPr>
          <a:xfrm>
            <a:off x="838200" y="1506022"/>
            <a:ext cx="8428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 Engineering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的目的是透過原本的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再增加一些有相關的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Features</a:t>
            </a:r>
          </a:p>
          <a:p>
            <a:r>
              <a:rPr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=&gt; </a:t>
            </a:r>
            <a:r>
              <a:rPr kumimoji="1" lang="en-US" altLang="ja-JP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除了原本的</a:t>
            </a:r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12 個 Feature </a:t>
            </a:r>
            <a:r>
              <a:rPr kumimoji="1" lang="en-US" altLang="ja-JP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再增加</a:t>
            </a:r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4 個 Feature</a:t>
            </a:r>
            <a:endParaRPr kumimoji="1" lang="ja-JP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736DD7F-4D9C-C9B7-EE63-68723E22B4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20365"/>
                  </p:ext>
                </p:extLst>
              </p:nvPr>
            </p:nvGraphicFramePr>
            <p:xfrm>
              <a:off x="838200" y="2831585"/>
              <a:ext cx="10591923" cy="28576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1569">
                      <a:extLst>
                        <a:ext uri="{9D8B030D-6E8A-4147-A177-3AD203B41FA5}">
                          <a16:colId xmlns:a16="http://schemas.microsoft.com/office/drawing/2014/main" val="331734725"/>
                        </a:ext>
                      </a:extLst>
                    </a:gridCol>
                    <a:gridCol w="5370242">
                      <a:extLst>
                        <a:ext uri="{9D8B030D-6E8A-4147-A177-3AD203B41FA5}">
                          <a16:colId xmlns:a16="http://schemas.microsoft.com/office/drawing/2014/main" val="3623125666"/>
                        </a:ext>
                      </a:extLst>
                    </a:gridCol>
                    <a:gridCol w="2930112">
                      <a:extLst>
                        <a:ext uri="{9D8B030D-6E8A-4147-A177-3AD203B41FA5}">
                          <a16:colId xmlns:a16="http://schemas.microsoft.com/office/drawing/2014/main" val="38753339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New Feature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Formula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Remark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770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total acidity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𝑓𝑖𝑥𝑒𝑑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𝑎𝑐𝑖𝑑𝑖𝑡𝑦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+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𝑣𝑜𝑙𝑎𝑡𝑖𝑙𝑒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𝑎𝑐𝑖𝑑𝑖𝑡𝑦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+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𝑐𝑖𝑡𝑟𝑖𝑐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𝑎𝑐𝑖𝑑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將所有 </a:t>
                          </a:r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acidity </a:t>
                          </a:r>
                          <a:r>
                            <a:rPr kumimoji="1" lang="en-US" altLang="ja-JP" dirty="0" err="1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相加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9276808"/>
                      </a:ext>
                    </a:extLst>
                  </a:tr>
                  <a:tr h="797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  <a:cs typeface="+mn-cs"/>
                            </a:rPr>
                            <a:t>free SO2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306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acid balance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ja-JP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𝑓𝑖𝑥𝑒𝑑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 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𝑎𝑐𝑖𝑑𝑖𝑡𝑦</m:t>
                                    </m:r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𝑝𝐻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  <m:t>−10</m:t>
                                        </m:r>
                                      </m:sup>
                                    </m:s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ja-JP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  <m:t>−10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的目的是要避免 </a:t>
                          </a:r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0 值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1289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alcohol acidity ratio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ja-JP" altLang="en-US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𝑎𝑙𝑐𝑜h𝑜𝑙</m:t>
                                    </m:r>
                                  </m:num>
                                  <m:den>
                                    <m:r>
                                      <a:rPr kumimoji="1" lang="ja-JP" altLang="en-US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𝑡𝑜𝑡𝑎𝑙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 </m:t>
                                    </m:r>
                                    <m:r>
                                      <a:rPr kumimoji="1" lang="ja-JP" altLang="en-US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𝑎𝑐𝑖𝑑𝑖𝑡𝑦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微軟正黑體" panose="020B0604030504040204" pitchFamily="34" charset="-120"/>
                                          </a:rPr>
                                          <m:t>−10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b="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ja-JP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  <m:t>−10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的目的是要避免 </a:t>
                          </a:r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0 值</a:t>
                          </a:r>
                          <a:endParaRPr kumimoji="1" lang="en-US" altLang="ja-JP" b="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9461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736DD7F-4D9C-C9B7-EE63-68723E22B4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20365"/>
                  </p:ext>
                </p:extLst>
              </p:nvPr>
            </p:nvGraphicFramePr>
            <p:xfrm>
              <a:off x="838200" y="2831585"/>
              <a:ext cx="10591923" cy="28576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1569">
                      <a:extLst>
                        <a:ext uri="{9D8B030D-6E8A-4147-A177-3AD203B41FA5}">
                          <a16:colId xmlns:a16="http://schemas.microsoft.com/office/drawing/2014/main" val="331734725"/>
                        </a:ext>
                      </a:extLst>
                    </a:gridCol>
                    <a:gridCol w="5370242">
                      <a:extLst>
                        <a:ext uri="{9D8B030D-6E8A-4147-A177-3AD203B41FA5}">
                          <a16:colId xmlns:a16="http://schemas.microsoft.com/office/drawing/2014/main" val="3623125666"/>
                        </a:ext>
                      </a:extLst>
                    </a:gridCol>
                    <a:gridCol w="2930112">
                      <a:extLst>
                        <a:ext uri="{9D8B030D-6E8A-4147-A177-3AD203B41FA5}">
                          <a16:colId xmlns:a16="http://schemas.microsoft.com/office/drawing/2014/main" val="38753339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New Feature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Formula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Remark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770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total acidity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744" t="-108197" r="-54762" b="-5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將所有 </a:t>
                          </a:r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acidity </a:t>
                          </a:r>
                          <a:r>
                            <a:rPr kumimoji="1" lang="en-US" altLang="ja-JP" dirty="0" err="1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相加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9276808"/>
                      </a:ext>
                    </a:extLst>
                  </a:tr>
                  <a:tr h="797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  <a:cs typeface="+mn-cs"/>
                            </a:rPr>
                            <a:t>free SO2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306802"/>
                      </a:ext>
                    </a:extLst>
                  </a:tr>
                  <a:tr h="659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acid balance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744" t="-236697" r="-54762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1746" t="-236697" r="-416" b="-100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1289786"/>
                      </a:ext>
                    </a:extLst>
                  </a:tr>
                  <a:tr h="659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alcohol acidity ratio</a:t>
                          </a:r>
                          <a:endParaRPr kumimoji="1" lang="ja-JP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744" t="-339815" r="-54762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1746" t="-339815" r="-416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94616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圖片 9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ED172EE1-D8AB-3A3D-0F37-03F2EB5C0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403" y="3679211"/>
            <a:ext cx="4043651" cy="6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79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B29FBA-0189-86DA-DA0A-10E2EB45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Engineering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A7DFE79-1365-70CA-E9A3-E0D3299225B3}"/>
              </a:ext>
            </a:extLst>
          </p:cNvPr>
          <p:cNvSpPr txBox="1"/>
          <p:nvPr/>
        </p:nvSpPr>
        <p:spPr>
          <a:xfrm>
            <a:off x="838200" y="1582340"/>
            <a:ext cx="7321235" cy="386259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feature_engineering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Feature Engineering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Create new features based on wine chemistry knowledge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Feature Engineering ==="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.copy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1. Create total acidity feature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Create Total Acidity Feature Code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2. Create SO2 ratio feature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Create Free SO2 Ratio Feature Code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3. Create acid-base balance feature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Create Acid Balance Code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4. Create alcohol to acidity ratio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Create Alcohol Acidity Ratio Code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"After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feature engineering, data shape: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of new features: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.columns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.columns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F74974-F81B-4F8E-0981-7FE179610074}"/>
              </a:ext>
            </a:extLst>
          </p:cNvPr>
          <p:cNvSpPr/>
          <p:nvPr/>
        </p:nvSpPr>
        <p:spPr>
          <a:xfrm>
            <a:off x="5218545" y="4627417"/>
            <a:ext cx="1759528" cy="2032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3FC82A0-8BA3-5DBD-61CF-2D05B3CEB682}"/>
              </a:ext>
            </a:extLst>
          </p:cNvPr>
          <p:cNvSpPr txBox="1"/>
          <p:nvPr/>
        </p:nvSpPr>
        <p:spPr>
          <a:xfrm>
            <a:off x="5218545" y="5668860"/>
            <a:ext cx="6188233" cy="369332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Result: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After feature engineering, data shape: (1359, 16)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B3852DF-5BEB-2CEC-298D-9DC1ABB5AA2A}"/>
              </a:ext>
            </a:extLst>
          </p:cNvPr>
          <p:cNvSpPr txBox="1"/>
          <p:nvPr/>
        </p:nvSpPr>
        <p:spPr>
          <a:xfrm>
            <a:off x="838200" y="5668860"/>
            <a:ext cx="3348994" cy="369332"/>
          </a:xfrm>
          <a:prstGeom prst="rect">
            <a:avLst/>
          </a:prstGeom>
          <a:solidFill>
            <a:srgbClr val="FFFF99"/>
          </a:solidFill>
          <a:ln w="38100">
            <a:solidFill>
              <a:srgbClr val="FFDF79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之前的</a:t>
            </a:r>
            <a:r>
              <a:rPr lang="en-US" altLang="ja-JP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Data shape</a:t>
            </a:r>
            <a:r>
              <a:rPr lang="en-US" altLang="ja-JP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(1599, 12)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D6322DE-E1DF-2D3C-E63E-2A52359A5A15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8309" y="4830618"/>
            <a:ext cx="2214353" cy="83824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694A5B3-6EF0-7F9A-6E76-D2BA663C36BF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4187194" y="5853526"/>
            <a:ext cx="1031351" cy="0"/>
          </a:xfrm>
          <a:prstGeom prst="straightConnector1">
            <a:avLst/>
          </a:prstGeom>
          <a:ln w="38100">
            <a:solidFill>
              <a:srgbClr val="FFDF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0251CDE-926D-A487-5500-D85302ED1664}"/>
              </a:ext>
            </a:extLst>
          </p:cNvPr>
          <p:cNvSpPr txBox="1"/>
          <p:nvPr/>
        </p:nvSpPr>
        <p:spPr>
          <a:xfrm>
            <a:off x="4281119" y="5911234"/>
            <a:ext cx="8435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12+4 = 16</a:t>
            </a:r>
            <a:endParaRPr kumimoji="1" lang="ja-JP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9066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171914-04F9-E6C2-0931-E3F598AE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Feature Engineering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9056616-0B37-2718-0078-A2397459FF78}"/>
              </a:ext>
            </a:extLst>
          </p:cNvPr>
          <p:cNvSpPr txBox="1"/>
          <p:nvPr/>
        </p:nvSpPr>
        <p:spPr>
          <a:xfrm>
            <a:off x="838200" y="1554512"/>
            <a:ext cx="3922869" cy="99001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total_acidity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'fixed acidity'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'volatile acidity'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'citric acid'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F80B178-716D-9C1A-7E7D-5F2495502E35}"/>
              </a:ext>
            </a:extLst>
          </p:cNvPr>
          <p:cNvSpPr txBox="1"/>
          <p:nvPr/>
        </p:nvSpPr>
        <p:spPr>
          <a:xfrm>
            <a:off x="838200" y="2869833"/>
            <a:ext cx="9020418" cy="134908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'free_SO2_ratio'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'free sulfur dioxide'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'total sulfur dioxide'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Handle division by zero errors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'free_SO2_ratio'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'free_SO2_ratio'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].replace([</a:t>
            </a:r>
            <a:r>
              <a:rPr lang="en-US" altLang="ja-JP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ja-JP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'free_SO2_ratio'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'free_SO2_ratio'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0B890B-5547-5BAD-E0E4-BEE669A14B42}"/>
              </a:ext>
            </a:extLst>
          </p:cNvPr>
          <p:cNvSpPr txBox="1"/>
          <p:nvPr/>
        </p:nvSpPr>
        <p:spPr>
          <a:xfrm>
            <a:off x="838200" y="4544226"/>
            <a:ext cx="5537093" cy="81047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acid_balance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'fixed acidity'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'pH'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1e-10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Avoid division by zero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E9E53C8-9326-650F-A877-2485AB45F038}"/>
              </a:ext>
            </a:extLst>
          </p:cNvPr>
          <p:cNvSpPr txBox="1"/>
          <p:nvPr/>
        </p:nvSpPr>
        <p:spPr>
          <a:xfrm>
            <a:off x="838200" y="5680010"/>
            <a:ext cx="4262705" cy="81047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alcohol_acidity_ratio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'alcohol'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total_acidity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1e-10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39C1D98-8DFB-4B80-D36D-3F17CC2BD778}"/>
              </a:ext>
            </a:extLst>
          </p:cNvPr>
          <p:cNvSpPr txBox="1"/>
          <p:nvPr/>
        </p:nvSpPr>
        <p:spPr>
          <a:xfrm>
            <a:off x="4928739" y="2236750"/>
            <a:ext cx="3128695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Create Total Acidity Feature Code    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7B09B42-1828-6B09-3FE5-66122809AB82}"/>
              </a:ext>
            </a:extLst>
          </p:cNvPr>
          <p:cNvSpPr txBox="1"/>
          <p:nvPr/>
        </p:nvSpPr>
        <p:spPr>
          <a:xfrm>
            <a:off x="8668306" y="4313378"/>
            <a:ext cx="3412857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Create Free SO2 Ratio Feature Code    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C98E15-875A-A6A8-6C28-F6D49F44B9F2}"/>
              </a:ext>
            </a:extLst>
          </p:cNvPr>
          <p:cNvSpPr txBox="1"/>
          <p:nvPr/>
        </p:nvSpPr>
        <p:spPr>
          <a:xfrm>
            <a:off x="6493086" y="5046927"/>
            <a:ext cx="2489221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Create Acid Balance Code    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AEDA7A7-CBA9-80EF-1361-8C3BA5F99D28}"/>
              </a:ext>
            </a:extLst>
          </p:cNvPr>
          <p:cNvSpPr txBox="1"/>
          <p:nvPr/>
        </p:nvSpPr>
        <p:spPr>
          <a:xfrm>
            <a:off x="5348409" y="6182711"/>
            <a:ext cx="3075155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Create Alcohol Acidity Ratio Code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6970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CF606-B691-45B2-75CC-E44AD26A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Selection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0498C59-72B7-21FF-728B-5F3C395E521A}"/>
              </a:ext>
            </a:extLst>
          </p:cNvPr>
          <p:cNvSpPr txBox="1"/>
          <p:nvPr/>
        </p:nvSpPr>
        <p:spPr>
          <a:xfrm>
            <a:off x="838200" y="1582340"/>
            <a:ext cx="6811480" cy="440120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select_features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target_column</a:t>
            </a:r>
            <a:r>
              <a:rPr lang="en-US" altLang="ja-JP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'quality'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Feature Selection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Use correlation analysis and domain knowledge to select important features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Feature Selection ==="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Calculate correlation with target variable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correlation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.corr()[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target_column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].abs().sort_values(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en-US" altLang="ja-JP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"Feature correlation with target variable (quality):"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correlation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Visualize correlation matrix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Draw Correlation Matrix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Select features based on correlation (threshold can be adjusted)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Here we select features with correlation greater than 0.05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selected_features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correlation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correlation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].index.tolist()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selected_features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.remove(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target_column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ja-JP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target variable</a:t>
            </a:r>
            <a:endParaRPr lang="en-US" altLang="ja-JP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Selected </a:t>
            </a:r>
            <a:r>
              <a:rPr lang="en-US" altLang="ja-JP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selected_features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ja-JP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features:"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selected_features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selected_features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4BD672-AC73-52EC-4676-1596E410C025}"/>
              </a:ext>
            </a:extLst>
          </p:cNvPr>
          <p:cNvSpPr/>
          <p:nvPr/>
        </p:nvSpPr>
        <p:spPr>
          <a:xfrm>
            <a:off x="1238250" y="3047999"/>
            <a:ext cx="6210300" cy="2032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23FD27-DDD7-DDCE-D429-DB888D4E2B4C}"/>
              </a:ext>
            </a:extLst>
          </p:cNvPr>
          <p:cNvSpPr txBox="1"/>
          <p:nvPr/>
        </p:nvSpPr>
        <p:spPr>
          <a:xfrm>
            <a:off x="7848600" y="2887989"/>
            <a:ext cx="4076700" cy="523220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與其他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Features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Correlation</a:t>
            </a:r>
          </a:p>
          <a:p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得出結果後取絕對值並且由大到小排序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0224F73-F5AC-683D-8E12-312692D00EF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448550" y="3149599"/>
            <a:ext cx="400050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B72CC5F-F333-1FFE-CA0D-D94BC1B75844}"/>
              </a:ext>
            </a:extLst>
          </p:cNvPr>
          <p:cNvSpPr/>
          <p:nvPr/>
        </p:nvSpPr>
        <p:spPr>
          <a:xfrm>
            <a:off x="1238250" y="4608511"/>
            <a:ext cx="6210300" cy="42703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FF8D928-4F49-9ED7-DAD1-F1138FE58F9A}"/>
              </a:ext>
            </a:extLst>
          </p:cNvPr>
          <p:cNvSpPr txBox="1"/>
          <p:nvPr/>
        </p:nvSpPr>
        <p:spPr>
          <a:xfrm>
            <a:off x="7848600" y="4458849"/>
            <a:ext cx="4076700" cy="738664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 </a:t>
            </a:r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可以自行調整，這邊只保留與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Correlation &gt; 0.1 </a:t>
            </a:r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Features</a:t>
            </a:r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，並且轉成 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list</a:t>
            </a:r>
          </a:p>
          <a:p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list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中將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quality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刪除（因為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quality 是 Target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ja-JP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DD539A0-1E6B-E17B-3717-051F8AB31860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7448550" y="4822031"/>
            <a:ext cx="400050" cy="615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722BD33-9499-FC23-FDDA-628F99D84616}"/>
              </a:ext>
            </a:extLst>
          </p:cNvPr>
          <p:cNvSpPr txBox="1"/>
          <p:nvPr/>
        </p:nvSpPr>
        <p:spPr>
          <a:xfrm>
            <a:off x="7848601" y="150743"/>
            <a:ext cx="4076700" cy="1754326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Correlation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會計算兩組之間的相關性</a:t>
            </a:r>
            <a:endParaRPr kumimoji="1" lang="en-US" altLang="ja-JP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如計算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alcohol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的相關性</a:t>
            </a:r>
            <a:endParaRPr lang="en-US" altLang="ja-JP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ja-JP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Correlation </a:t>
            </a:r>
            <a:r>
              <a: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介在 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[-1 ~ 1]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之間愈靠近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代表愈正相關，反之靠近</a:t>
            </a:r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-1 </a:t>
            </a:r>
            <a:r>
              <a:rPr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代表愈負相關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7934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2CAAC1-A769-994F-D6E6-73379B0C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Selection</a:t>
            </a:r>
            <a:endParaRPr kumimoji="1" lang="ja-JP" altLang="en-US" dirty="0"/>
          </a:p>
        </p:txBody>
      </p:sp>
      <p:pic>
        <p:nvPicPr>
          <p:cNvPr id="4" name="圖片 3" descr="一張含有 文字, 螢幕擷取畫面, 正方形, 圖表 的圖片&#10;&#10;AI 產生的內容可能不正確。">
            <a:extLst>
              <a:ext uri="{FF2B5EF4-FFF2-40B4-BE49-F238E27FC236}">
                <a16:creationId xmlns:a16="http://schemas.microsoft.com/office/drawing/2014/main" id="{1FD26A2C-58B1-2D82-9742-63E9448A1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7891"/>
            <a:ext cx="5997127" cy="526010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56F133D-2D49-235C-A25D-2160D905077B}"/>
              </a:ext>
            </a:extLst>
          </p:cNvPr>
          <p:cNvSpPr/>
          <p:nvPr/>
        </p:nvSpPr>
        <p:spPr>
          <a:xfrm>
            <a:off x="4664364" y="1791855"/>
            <a:ext cx="277092" cy="45904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E67764-5D68-9D69-1459-67ACC2C719FD}"/>
              </a:ext>
            </a:extLst>
          </p:cNvPr>
          <p:cNvSpPr txBox="1"/>
          <p:nvPr/>
        </p:nvSpPr>
        <p:spPr>
          <a:xfrm>
            <a:off x="7315200" y="535710"/>
            <a:ext cx="4397664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取出來的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與其他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Features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間的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Correlation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D843673-BEE0-6085-44CC-B30DD8743ABF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4941456" y="689599"/>
            <a:ext cx="2373744" cy="339749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BC9AB51-3594-9934-E38E-5BC5B8B4F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70492"/>
              </p:ext>
            </p:extLst>
          </p:nvPr>
        </p:nvGraphicFramePr>
        <p:xfrm>
          <a:off x="7909825" y="1988711"/>
          <a:ext cx="3208414" cy="457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909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  <a:gridCol w="945505">
                  <a:extLst>
                    <a:ext uri="{9D8B030D-6E8A-4147-A177-3AD203B41FA5}">
                      <a16:colId xmlns:a16="http://schemas.microsoft.com/office/drawing/2014/main" val="2224743815"/>
                    </a:ext>
                  </a:extLst>
                </a:gridCol>
              </a:tblGrid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 and Others 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1.000000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0.480343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0.395214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0.248835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0.228057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free_SO2_ratio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0.192296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0.184252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0.177855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alcohol_acidity_ratio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0.158508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0.130988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0.119024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acid_balance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0.115201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total_acidity</a:t>
                      </a:r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0.097936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2944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0.055245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247931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0.050463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7202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0.013640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065198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5162ABD-874E-8371-674F-7813D758D783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9514032" y="843487"/>
            <a:ext cx="0" cy="114522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219B285-6752-C0A5-9E62-113E4C10F6ED}"/>
              </a:ext>
            </a:extLst>
          </p:cNvPr>
          <p:cNvSpPr txBox="1"/>
          <p:nvPr/>
        </p:nvSpPr>
        <p:spPr>
          <a:xfrm>
            <a:off x="8075863" y="1279523"/>
            <a:ext cx="2876337" cy="273152"/>
          </a:xfrm>
          <a:prstGeom prst="rect">
            <a:avLst/>
          </a:prstGeom>
          <a:solidFill>
            <a:srgbClr val="FFFF99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dirty="0">
                <a:latin typeface="Consolas" panose="020B0609020204030204" pitchFamily="49" charset="0"/>
              </a:rPr>
              <a:t>.abs().</a:t>
            </a:r>
            <a:r>
              <a:rPr lang="en-US" altLang="ja-JP" sz="1100" dirty="0" err="1">
                <a:latin typeface="Consolas" panose="020B0609020204030204" pitchFamily="49" charset="0"/>
              </a:rPr>
              <a:t>sort_values</a:t>
            </a:r>
            <a:r>
              <a:rPr lang="en-US" altLang="ja-JP" sz="1100" dirty="0">
                <a:latin typeface="Consolas" panose="020B0609020204030204" pitchFamily="49" charset="0"/>
              </a:rPr>
              <a:t>(ascending=False)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A1ABA08-C787-2738-8844-BFCC1011F9A5}"/>
              </a:ext>
            </a:extLst>
          </p:cNvPr>
          <p:cNvSpPr txBox="1"/>
          <p:nvPr/>
        </p:nvSpPr>
        <p:spPr>
          <a:xfrm>
            <a:off x="5399441" y="2388345"/>
            <a:ext cx="2109722" cy="273152"/>
          </a:xfrm>
          <a:prstGeom prst="rect">
            <a:avLst/>
          </a:prstGeom>
          <a:solidFill>
            <a:srgbClr val="FFFF99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altLang="ja-JP" sz="1100" dirty="0" err="1">
                <a:latin typeface="Consolas" panose="020B0609020204030204" pitchFamily="49" charset="0"/>
              </a:rPr>
              <a:t>df.corr</a:t>
            </a:r>
            <a:r>
              <a:rPr lang="en-US" altLang="ja-JP" sz="1100" dirty="0">
                <a:latin typeface="Consolas" panose="020B0609020204030204" pitchFamily="49" charset="0"/>
              </a:rPr>
              <a:t>()[</a:t>
            </a:r>
            <a:r>
              <a:rPr lang="en-US" altLang="ja-JP" sz="1100" dirty="0" err="1">
                <a:latin typeface="Consolas" panose="020B0609020204030204" pitchFamily="49" charset="0"/>
              </a:rPr>
              <a:t>target_column</a:t>
            </a:r>
            <a:r>
              <a:rPr lang="en-US" altLang="ja-JP" sz="1100" dirty="0"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29078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6391-A5B3-8EAB-A154-FCC538C4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8C284-1905-0474-C7C9-714499F9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Selection</a:t>
            </a:r>
            <a:endParaRPr kumimoji="1" lang="ja-JP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36E4FD-81B7-F5FF-AA0C-7E369FD47CB8}"/>
              </a:ext>
            </a:extLst>
          </p:cNvPr>
          <p:cNvSpPr txBox="1"/>
          <p:nvPr/>
        </p:nvSpPr>
        <p:spPr>
          <a:xfrm>
            <a:off x="7315200" y="535710"/>
            <a:ext cx="4397664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取出來的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與其他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Features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間的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Correlation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55D358F-5478-EDFE-8B84-444C7E776AA2}"/>
              </a:ext>
            </a:extLst>
          </p:cNvPr>
          <p:cNvGraphicFramePr>
            <a:graphicFrameLocks noGrp="1"/>
          </p:cNvGraphicFramePr>
          <p:nvPr/>
        </p:nvGraphicFramePr>
        <p:xfrm>
          <a:off x="7909825" y="1988711"/>
          <a:ext cx="3208414" cy="457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909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  <a:gridCol w="945505">
                  <a:extLst>
                    <a:ext uri="{9D8B030D-6E8A-4147-A177-3AD203B41FA5}">
                      <a16:colId xmlns:a16="http://schemas.microsoft.com/office/drawing/2014/main" val="2224743815"/>
                    </a:ext>
                  </a:extLst>
                </a:gridCol>
              </a:tblGrid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 and Others 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1.000000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0.480343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0.395214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0.248835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0.228057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free_SO2_ratio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0.192296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0.184252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0.177855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alcohol_acidity_ratio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0.158508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0.130988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0.119024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acid_balance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0.115201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total_acidity</a:t>
                      </a:r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0.097936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2944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0.055245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247931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0.050463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7202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0.013640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065198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009A721-E363-124F-24B2-BBE65D74F8E1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9514032" y="843487"/>
            <a:ext cx="0" cy="114522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左大括弧 2">
            <a:extLst>
              <a:ext uri="{FF2B5EF4-FFF2-40B4-BE49-F238E27FC236}">
                <a16:creationId xmlns:a16="http://schemas.microsoft.com/office/drawing/2014/main" id="{8CE46105-5851-8DDD-2A7C-515FB7096678}"/>
              </a:ext>
            </a:extLst>
          </p:cNvPr>
          <p:cNvSpPr/>
          <p:nvPr/>
        </p:nvSpPr>
        <p:spPr>
          <a:xfrm>
            <a:off x="7709493" y="5588000"/>
            <a:ext cx="120073" cy="904875"/>
          </a:xfrm>
          <a:prstGeom prst="leftBrac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4C6B05C-D5E6-05A7-0088-1C4C821FA4E4}"/>
              </a:ext>
            </a:extLst>
          </p:cNvPr>
          <p:cNvSpPr txBox="1"/>
          <p:nvPr/>
        </p:nvSpPr>
        <p:spPr>
          <a:xfrm>
            <a:off x="3574473" y="5905124"/>
            <a:ext cx="4017818" cy="442814"/>
          </a:xfrm>
          <a:prstGeom prst="rect">
            <a:avLst/>
          </a:prstGeom>
          <a:solidFill>
            <a:srgbClr val="FFFF99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dirty="0" err="1">
                <a:latin typeface="Consolas" panose="020B0609020204030204" pitchFamily="49" charset="0"/>
              </a:rPr>
              <a:t>selected_features</a:t>
            </a:r>
            <a:r>
              <a:rPr lang="en-US" altLang="ja-JP" sz="1100" dirty="0">
                <a:latin typeface="Consolas" panose="020B0609020204030204" pitchFamily="49" charset="0"/>
              </a:rPr>
              <a:t> = correlation[correlation &gt; 0.1]</a:t>
            </a:r>
          </a:p>
          <a:p>
            <a:pPr>
              <a:lnSpc>
                <a:spcPts val="1425"/>
              </a:lnSpc>
              <a:buNone/>
            </a:pPr>
            <a:r>
              <a:rPr lang="ja-JP" altLang="en-US" sz="1100" dirty="0">
                <a:latin typeface="Consolas" panose="020B0609020204030204" pitchFamily="49" charset="0"/>
              </a:rPr>
              <a:t>（只保留 </a:t>
            </a:r>
            <a:r>
              <a:rPr lang="en-US" altLang="ja-JP" sz="1100" dirty="0">
                <a:latin typeface="Consolas" panose="020B0609020204030204" pitchFamily="49" charset="0"/>
              </a:rPr>
              <a:t>&gt; 0.1，代表&lt;= 0.1 </a:t>
            </a:r>
            <a:r>
              <a:rPr lang="en-US" altLang="ja-JP" sz="1100" dirty="0" err="1">
                <a:latin typeface="Consolas" panose="020B0609020204030204" pitchFamily="49" charset="0"/>
              </a:rPr>
              <a:t>全部刪除</a:t>
            </a:r>
            <a:r>
              <a:rPr lang="ja-JP" altLang="en-US" sz="1100" dirty="0">
                <a:latin typeface="Consolas" panose="020B0609020204030204" pitchFamily="49" charset="0"/>
              </a:rPr>
              <a:t>）</a:t>
            </a:r>
            <a:endParaRPr lang="en-US" altLang="ja-JP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111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24BF-0A23-B84C-7622-6E065ECD0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45BA6-F78E-8FE8-C342-F72125DEC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Selection</a:t>
            </a:r>
            <a:endParaRPr kumimoji="1" lang="ja-JP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014D891-2311-9DA6-2CFD-746C0105991C}"/>
              </a:ext>
            </a:extLst>
          </p:cNvPr>
          <p:cNvSpPr txBox="1"/>
          <p:nvPr/>
        </p:nvSpPr>
        <p:spPr>
          <a:xfrm>
            <a:off x="7315200" y="535710"/>
            <a:ext cx="4397664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取出來的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與其他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Features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間的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Correlation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D29A4F5-044A-5D2C-D0FE-740AD6B61E48}"/>
              </a:ext>
            </a:extLst>
          </p:cNvPr>
          <p:cNvGraphicFramePr>
            <a:graphicFrameLocks noGrp="1"/>
          </p:cNvGraphicFramePr>
          <p:nvPr/>
        </p:nvGraphicFramePr>
        <p:xfrm>
          <a:off x="7909825" y="1988711"/>
          <a:ext cx="3208414" cy="457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909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  <a:gridCol w="945505">
                  <a:extLst>
                    <a:ext uri="{9D8B030D-6E8A-4147-A177-3AD203B41FA5}">
                      <a16:colId xmlns:a16="http://schemas.microsoft.com/office/drawing/2014/main" val="2224743815"/>
                    </a:ext>
                  </a:extLst>
                </a:gridCol>
              </a:tblGrid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 and Others 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1.000000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0.480343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0.395214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0.248835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0.228057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free_SO2_ratio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0.192296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0.184252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0.177855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alcohol_acidity_ratio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0.158508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0.130988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0.119024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acid_balance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0.115201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total_acidity</a:t>
                      </a:r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0.097936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2944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0.055245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247931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0.050463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7202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0.013640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065198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56732FC-0A68-F5CB-1D99-D9313AE2332D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9514032" y="843487"/>
            <a:ext cx="0" cy="114522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左大括弧 2">
            <a:extLst>
              <a:ext uri="{FF2B5EF4-FFF2-40B4-BE49-F238E27FC236}">
                <a16:creationId xmlns:a16="http://schemas.microsoft.com/office/drawing/2014/main" id="{13C038C9-D873-0D39-03E0-F437F3EE84CB}"/>
              </a:ext>
            </a:extLst>
          </p:cNvPr>
          <p:cNvSpPr/>
          <p:nvPr/>
        </p:nvSpPr>
        <p:spPr>
          <a:xfrm>
            <a:off x="7709493" y="5588000"/>
            <a:ext cx="120073" cy="904875"/>
          </a:xfrm>
          <a:prstGeom prst="leftBrac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202637-39D3-AD53-D624-9281DD626D6C}"/>
              </a:ext>
            </a:extLst>
          </p:cNvPr>
          <p:cNvSpPr txBox="1"/>
          <p:nvPr/>
        </p:nvSpPr>
        <p:spPr>
          <a:xfrm>
            <a:off x="3574473" y="5905124"/>
            <a:ext cx="4017818" cy="442814"/>
          </a:xfrm>
          <a:prstGeom prst="rect">
            <a:avLst/>
          </a:prstGeom>
          <a:solidFill>
            <a:srgbClr val="FFFF99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dirty="0" err="1">
                <a:latin typeface="Consolas" panose="020B0609020204030204" pitchFamily="49" charset="0"/>
              </a:rPr>
              <a:t>selected_features</a:t>
            </a:r>
            <a:r>
              <a:rPr lang="en-US" altLang="ja-JP" sz="1100" dirty="0">
                <a:latin typeface="Consolas" panose="020B0609020204030204" pitchFamily="49" charset="0"/>
              </a:rPr>
              <a:t> = correlation[correlation &gt; 0.1]</a:t>
            </a:r>
          </a:p>
          <a:p>
            <a:pPr>
              <a:lnSpc>
                <a:spcPts val="1425"/>
              </a:lnSpc>
              <a:buNone/>
            </a:pPr>
            <a:r>
              <a:rPr lang="ja-JP" altLang="en-US" sz="1100" dirty="0">
                <a:latin typeface="Consolas" panose="020B0609020204030204" pitchFamily="49" charset="0"/>
              </a:rPr>
              <a:t>（只保留 </a:t>
            </a:r>
            <a:r>
              <a:rPr lang="en-US" altLang="ja-JP" sz="1100" dirty="0">
                <a:latin typeface="Consolas" panose="020B0609020204030204" pitchFamily="49" charset="0"/>
              </a:rPr>
              <a:t>&gt; 0.1，代表&lt;= 0.1 </a:t>
            </a:r>
            <a:r>
              <a:rPr lang="en-US" altLang="ja-JP" sz="1100" dirty="0" err="1">
                <a:latin typeface="Consolas" panose="020B0609020204030204" pitchFamily="49" charset="0"/>
              </a:rPr>
              <a:t>全部刪除</a:t>
            </a:r>
            <a:r>
              <a:rPr lang="ja-JP" altLang="en-US" sz="1100" dirty="0">
                <a:latin typeface="Consolas" panose="020B0609020204030204" pitchFamily="49" charset="0"/>
              </a:rPr>
              <a:t>）</a:t>
            </a:r>
            <a:endParaRPr lang="en-US" altLang="ja-JP" sz="1100" dirty="0">
              <a:latin typeface="Consolas" panose="020B0609020204030204" pitchFamily="49" charset="0"/>
            </a:endParaRPr>
          </a:p>
        </p:txBody>
      </p:sp>
      <p:sp>
        <p:nvSpPr>
          <p:cNvPr id="4" name="左大括弧 3">
            <a:extLst>
              <a:ext uri="{FF2B5EF4-FFF2-40B4-BE49-F238E27FC236}">
                <a16:creationId xmlns:a16="http://schemas.microsoft.com/office/drawing/2014/main" id="{AA6BB70A-C97D-E800-ED5D-C3FBFCDBF0D4}"/>
              </a:ext>
            </a:extLst>
          </p:cNvPr>
          <p:cNvSpPr/>
          <p:nvPr/>
        </p:nvSpPr>
        <p:spPr>
          <a:xfrm>
            <a:off x="7709493" y="2355273"/>
            <a:ext cx="120073" cy="29787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B916452-3B0D-9694-F225-C39424DF49DD}"/>
              </a:ext>
            </a:extLst>
          </p:cNvPr>
          <p:cNvSpPr txBox="1"/>
          <p:nvPr/>
        </p:nvSpPr>
        <p:spPr>
          <a:xfrm>
            <a:off x="3574473" y="3623229"/>
            <a:ext cx="4017818" cy="445507"/>
          </a:xfrm>
          <a:prstGeom prst="rect">
            <a:avLst/>
          </a:prstGeom>
          <a:solidFill>
            <a:srgbClr val="FFFF99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dirty="0">
                <a:latin typeface="Consolas" panose="020B0609020204030204" pitchFamily="49" charset="0"/>
              </a:rPr>
              <a:t>.</a:t>
            </a:r>
            <a:r>
              <a:rPr lang="en-US" altLang="ja-JP" sz="1100" dirty="0" err="1">
                <a:latin typeface="Consolas" panose="020B0609020204030204" pitchFamily="49" charset="0"/>
              </a:rPr>
              <a:t>index.tolist</a:t>
            </a:r>
            <a:r>
              <a:rPr lang="en-US" altLang="ja-JP" sz="1100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ja-JP" altLang="en-US" sz="1100" dirty="0">
                <a:latin typeface="Consolas" panose="020B0609020204030204" pitchFamily="49" charset="0"/>
              </a:rPr>
              <a:t>（將保留的轉成 </a:t>
            </a:r>
            <a:r>
              <a:rPr lang="en-US" altLang="ja-JP" sz="1100" dirty="0">
                <a:latin typeface="Consolas" panose="020B0609020204030204" pitchFamily="49" charset="0"/>
              </a:rPr>
              <a:t>list</a:t>
            </a:r>
            <a:r>
              <a:rPr lang="ja-JP" altLang="en-US" sz="1100" dirty="0">
                <a:latin typeface="Consolas" panose="020B0609020204030204" pitchFamily="49" charset="0"/>
              </a:rPr>
              <a:t>）</a:t>
            </a:r>
            <a:endParaRPr lang="en-US" altLang="ja-JP" sz="1100" dirty="0">
              <a:latin typeface="Consolas" panose="020B0609020204030204" pitchFamily="49" charset="0"/>
            </a:endParaRPr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1FDA074A-51F2-0E05-62DE-E52E3F55BE28}"/>
              </a:ext>
            </a:extLst>
          </p:cNvPr>
          <p:cNvCxnSpPr>
            <a:stCxn id="7" idx="1"/>
            <a:endCxn id="5" idx="1"/>
          </p:cNvCxnSpPr>
          <p:nvPr/>
        </p:nvCxnSpPr>
        <p:spPr>
          <a:xfrm rot="10800000">
            <a:off x="3574473" y="3845983"/>
            <a:ext cx="12700" cy="228054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093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1257-93C9-D594-491C-722D7AD5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094EAB-7C16-2B86-0330-81F57B6F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Selection</a:t>
            </a:r>
            <a:endParaRPr kumimoji="1" lang="ja-JP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2D7CB5-99EB-7DF7-9DD9-AF71C0A563D1}"/>
              </a:ext>
            </a:extLst>
          </p:cNvPr>
          <p:cNvSpPr txBox="1"/>
          <p:nvPr/>
        </p:nvSpPr>
        <p:spPr>
          <a:xfrm>
            <a:off x="7315200" y="535710"/>
            <a:ext cx="4397664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取出來的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與其他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Features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間的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Correlation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8CCB1E5-0DC8-971B-8969-4401D3559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187137"/>
              </p:ext>
            </p:extLst>
          </p:nvPr>
        </p:nvGraphicFramePr>
        <p:xfrm>
          <a:off x="7909825" y="1988711"/>
          <a:ext cx="3208414" cy="457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909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  <a:gridCol w="945505">
                  <a:extLst>
                    <a:ext uri="{9D8B030D-6E8A-4147-A177-3AD203B41FA5}">
                      <a16:colId xmlns:a16="http://schemas.microsoft.com/office/drawing/2014/main" val="2224743815"/>
                    </a:ext>
                  </a:extLst>
                </a:gridCol>
              </a:tblGrid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 and Others 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1.000000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0.480343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0.395214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0.248835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0.228057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free_SO2_ratio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0.192296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0.184252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0.177855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alcohol_acidity_ratio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0.158508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0.130988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0.119024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acid_balance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0.115201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total_acidity</a:t>
                      </a:r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0.097936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2944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0.055245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247931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0.050463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7202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0.013640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065198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CDD8F05-D307-BAC3-8318-5266232E33EA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9514032" y="843487"/>
            <a:ext cx="0" cy="114522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左大括弧 2">
            <a:extLst>
              <a:ext uri="{FF2B5EF4-FFF2-40B4-BE49-F238E27FC236}">
                <a16:creationId xmlns:a16="http://schemas.microsoft.com/office/drawing/2014/main" id="{BF66EA86-999F-B507-C8C3-EA4C1D2C0C5B}"/>
              </a:ext>
            </a:extLst>
          </p:cNvPr>
          <p:cNvSpPr/>
          <p:nvPr/>
        </p:nvSpPr>
        <p:spPr>
          <a:xfrm>
            <a:off x="7709493" y="5588000"/>
            <a:ext cx="120073" cy="904875"/>
          </a:xfrm>
          <a:prstGeom prst="leftBrac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03B4A9-0CB2-8742-E150-E8C8C880983A}"/>
              </a:ext>
            </a:extLst>
          </p:cNvPr>
          <p:cNvSpPr txBox="1"/>
          <p:nvPr/>
        </p:nvSpPr>
        <p:spPr>
          <a:xfrm>
            <a:off x="3574473" y="5905124"/>
            <a:ext cx="4017818" cy="442814"/>
          </a:xfrm>
          <a:prstGeom prst="rect">
            <a:avLst/>
          </a:prstGeom>
          <a:solidFill>
            <a:srgbClr val="FFFF99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dirty="0" err="1">
                <a:latin typeface="Consolas" panose="020B0609020204030204" pitchFamily="49" charset="0"/>
              </a:rPr>
              <a:t>selected_features</a:t>
            </a:r>
            <a:r>
              <a:rPr lang="en-US" altLang="ja-JP" sz="1100" dirty="0">
                <a:latin typeface="Consolas" panose="020B0609020204030204" pitchFamily="49" charset="0"/>
              </a:rPr>
              <a:t> = correlation[correlation &gt; 0.1]</a:t>
            </a:r>
          </a:p>
          <a:p>
            <a:pPr>
              <a:lnSpc>
                <a:spcPts val="1425"/>
              </a:lnSpc>
              <a:buNone/>
            </a:pPr>
            <a:r>
              <a:rPr lang="ja-JP" altLang="en-US" sz="1100" dirty="0">
                <a:latin typeface="Consolas" panose="020B0609020204030204" pitchFamily="49" charset="0"/>
              </a:rPr>
              <a:t>（只保留 </a:t>
            </a:r>
            <a:r>
              <a:rPr lang="en-US" altLang="ja-JP" sz="1100" dirty="0">
                <a:latin typeface="Consolas" panose="020B0609020204030204" pitchFamily="49" charset="0"/>
              </a:rPr>
              <a:t>&gt; 0.1，代表&lt;= 0.1 </a:t>
            </a:r>
            <a:r>
              <a:rPr lang="en-US" altLang="ja-JP" sz="1100" dirty="0" err="1">
                <a:latin typeface="Consolas" panose="020B0609020204030204" pitchFamily="49" charset="0"/>
              </a:rPr>
              <a:t>全部刪除</a:t>
            </a:r>
            <a:r>
              <a:rPr lang="ja-JP" altLang="en-US" sz="1100" dirty="0">
                <a:latin typeface="Consolas" panose="020B0609020204030204" pitchFamily="49" charset="0"/>
              </a:rPr>
              <a:t>）</a:t>
            </a:r>
            <a:endParaRPr lang="en-US" altLang="ja-JP" sz="1100" dirty="0">
              <a:latin typeface="Consolas" panose="020B0609020204030204" pitchFamily="49" charset="0"/>
            </a:endParaRPr>
          </a:p>
        </p:txBody>
      </p:sp>
      <p:sp>
        <p:nvSpPr>
          <p:cNvPr id="4" name="左大括弧 3">
            <a:extLst>
              <a:ext uri="{FF2B5EF4-FFF2-40B4-BE49-F238E27FC236}">
                <a16:creationId xmlns:a16="http://schemas.microsoft.com/office/drawing/2014/main" id="{21D5B649-828D-9C4A-68EA-612A3E87060A}"/>
              </a:ext>
            </a:extLst>
          </p:cNvPr>
          <p:cNvSpPr/>
          <p:nvPr/>
        </p:nvSpPr>
        <p:spPr>
          <a:xfrm>
            <a:off x="7709493" y="2628900"/>
            <a:ext cx="120073" cy="27051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67F3707-48F1-063D-CB30-F7E914FDB5CC}"/>
              </a:ext>
            </a:extLst>
          </p:cNvPr>
          <p:cNvSpPr txBox="1"/>
          <p:nvPr/>
        </p:nvSpPr>
        <p:spPr>
          <a:xfrm>
            <a:off x="3574473" y="3758696"/>
            <a:ext cx="4017818" cy="445507"/>
          </a:xfrm>
          <a:prstGeom prst="rect">
            <a:avLst/>
          </a:prstGeom>
          <a:solidFill>
            <a:srgbClr val="FFFF99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dirty="0">
                <a:latin typeface="Consolas" panose="020B0609020204030204" pitchFamily="49" charset="0"/>
              </a:rPr>
              <a:t>.</a:t>
            </a:r>
            <a:r>
              <a:rPr lang="en-US" altLang="ja-JP" sz="1100" dirty="0" err="1">
                <a:latin typeface="Consolas" panose="020B0609020204030204" pitchFamily="49" charset="0"/>
              </a:rPr>
              <a:t>index.tolist</a:t>
            </a:r>
            <a:r>
              <a:rPr lang="en-US" altLang="ja-JP" sz="1100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ja-JP" altLang="en-US" sz="1100" dirty="0">
                <a:latin typeface="Consolas" panose="020B0609020204030204" pitchFamily="49" charset="0"/>
              </a:rPr>
              <a:t>（將保留的轉成 </a:t>
            </a:r>
            <a:r>
              <a:rPr lang="en-US" altLang="ja-JP" sz="1100" dirty="0">
                <a:latin typeface="Consolas" panose="020B0609020204030204" pitchFamily="49" charset="0"/>
              </a:rPr>
              <a:t>list</a:t>
            </a:r>
            <a:r>
              <a:rPr lang="ja-JP" altLang="en-US" sz="1100" dirty="0">
                <a:latin typeface="Consolas" panose="020B0609020204030204" pitchFamily="49" charset="0"/>
              </a:rPr>
              <a:t>）</a:t>
            </a:r>
            <a:endParaRPr lang="en-US" altLang="ja-JP" sz="1100" dirty="0">
              <a:latin typeface="Consolas" panose="020B0609020204030204" pitchFamily="49" charset="0"/>
            </a:endParaRPr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822D5DB2-0254-3253-C755-875203CAB992}"/>
              </a:ext>
            </a:extLst>
          </p:cNvPr>
          <p:cNvCxnSpPr>
            <a:stCxn id="7" idx="1"/>
            <a:endCxn id="5" idx="1"/>
          </p:cNvCxnSpPr>
          <p:nvPr/>
        </p:nvCxnSpPr>
        <p:spPr>
          <a:xfrm rot="10800000">
            <a:off x="3574473" y="3981451"/>
            <a:ext cx="12700" cy="2145081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DA2EF33-3734-AC83-8898-1DE5F710DB20}"/>
              </a:ext>
            </a:extLst>
          </p:cNvPr>
          <p:cNvSpPr txBox="1"/>
          <p:nvPr/>
        </p:nvSpPr>
        <p:spPr>
          <a:xfrm>
            <a:off x="3574473" y="2183393"/>
            <a:ext cx="4017818" cy="4455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dirty="0" err="1">
                <a:latin typeface="Consolas" panose="020B0609020204030204" pitchFamily="49" charset="0"/>
              </a:rPr>
              <a:t>selected_features.remove</a:t>
            </a:r>
            <a:r>
              <a:rPr lang="en-US" altLang="ja-JP" sz="1100" dirty="0">
                <a:latin typeface="Consolas" panose="020B0609020204030204" pitchFamily="49" charset="0"/>
              </a:rPr>
              <a:t>(</a:t>
            </a:r>
            <a:r>
              <a:rPr lang="en-US" altLang="ja-JP" sz="1100" dirty="0" err="1">
                <a:latin typeface="Consolas" panose="020B0609020204030204" pitchFamily="49" charset="0"/>
              </a:rPr>
              <a:t>target_column</a:t>
            </a:r>
            <a:r>
              <a:rPr lang="en-US" altLang="ja-JP" sz="1100" dirty="0">
                <a:latin typeface="Consolas" panose="020B0609020204030204" pitchFamily="49" charset="0"/>
              </a:rPr>
              <a:t>)  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100" dirty="0">
                <a:latin typeface="Consolas" panose="020B0609020204030204" pitchFamily="49" charset="0"/>
              </a:rPr>
              <a:t>（quality </a:t>
            </a:r>
            <a:r>
              <a:rPr lang="en-US" altLang="ja-JP" sz="1100" dirty="0" err="1">
                <a:latin typeface="Consolas" panose="020B0609020204030204" pitchFamily="49" charset="0"/>
              </a:rPr>
              <a:t>本身並非</a:t>
            </a:r>
            <a:r>
              <a:rPr lang="en-US" altLang="ja-JP" sz="1100" dirty="0">
                <a:latin typeface="Consolas" panose="020B0609020204030204" pitchFamily="49" charset="0"/>
              </a:rPr>
              <a:t> Features </a:t>
            </a:r>
            <a:r>
              <a:rPr lang="en-US" altLang="ja-JP" sz="1100" dirty="0" err="1">
                <a:latin typeface="Consolas" panose="020B0609020204030204" pitchFamily="49" charset="0"/>
              </a:rPr>
              <a:t>所以要移除</a:t>
            </a:r>
            <a:r>
              <a:rPr lang="en-US" altLang="ja-JP" sz="1100" dirty="0">
                <a:latin typeface="Consolas" panose="020B0609020204030204" pitchFamily="49" charset="0"/>
              </a:rPr>
              <a:t>）</a:t>
            </a:r>
          </a:p>
        </p:txBody>
      </p:sp>
      <p:sp>
        <p:nvSpPr>
          <p:cNvPr id="15" name="左大括弧 14">
            <a:extLst>
              <a:ext uri="{FF2B5EF4-FFF2-40B4-BE49-F238E27FC236}">
                <a16:creationId xmlns:a16="http://schemas.microsoft.com/office/drawing/2014/main" id="{1405FB93-17DD-A122-683F-19A0CB3590AA}"/>
              </a:ext>
            </a:extLst>
          </p:cNvPr>
          <p:cNvSpPr/>
          <p:nvPr/>
        </p:nvSpPr>
        <p:spPr>
          <a:xfrm>
            <a:off x="7709493" y="2255257"/>
            <a:ext cx="120073" cy="290325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02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6ADA-1019-BFE5-1A5B-2C22BA21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F0CA9F-DF71-C2B1-E1AF-D4C4193F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Selection</a:t>
            </a:r>
            <a:endParaRPr kumimoji="1" lang="ja-JP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F681B57-006F-4A92-FD4F-7F0D092B6915}"/>
              </a:ext>
            </a:extLst>
          </p:cNvPr>
          <p:cNvSpPr txBox="1"/>
          <p:nvPr/>
        </p:nvSpPr>
        <p:spPr>
          <a:xfrm>
            <a:off x="7315200" y="535710"/>
            <a:ext cx="4397664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取出來的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quality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與其他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Features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間的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Correlation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59020CB-3B7C-6681-B64D-8AB95B63772A}"/>
              </a:ext>
            </a:extLst>
          </p:cNvPr>
          <p:cNvGraphicFramePr>
            <a:graphicFrameLocks noGrp="1"/>
          </p:cNvGraphicFramePr>
          <p:nvPr/>
        </p:nvGraphicFramePr>
        <p:xfrm>
          <a:off x="7909825" y="1988711"/>
          <a:ext cx="3208414" cy="457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909">
                  <a:extLst>
                    <a:ext uri="{9D8B030D-6E8A-4147-A177-3AD203B41FA5}">
                      <a16:colId xmlns:a16="http://schemas.microsoft.com/office/drawing/2014/main" val="331734725"/>
                    </a:ext>
                  </a:extLst>
                </a:gridCol>
                <a:gridCol w="945505">
                  <a:extLst>
                    <a:ext uri="{9D8B030D-6E8A-4147-A177-3AD203B41FA5}">
                      <a16:colId xmlns:a16="http://schemas.microsoft.com/office/drawing/2014/main" val="2224743815"/>
                    </a:ext>
                  </a:extLst>
                </a:gridCol>
              </a:tblGrid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 and Others 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Correlation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7085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quality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1.000000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7680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0.480343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06802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volatile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0.395214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28978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sulphates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0.248835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46160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citric acid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0.228057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1415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free_SO2_ratio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0.192296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325556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0.184252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2556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0.177855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826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alcohol_acidity_ratio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0.158508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142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chlorides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0.130988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69758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fixed acidity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0.119024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2714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acid_balance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0.115201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15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total_acidity</a:t>
                      </a:r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0.097936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29448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 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0.055245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247931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free sulfur dioxide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0.050463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72029"/>
                  </a:ext>
                </a:extLst>
              </a:tr>
              <a:tr h="26889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residual sugar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0.013640</a:t>
                      </a:r>
                      <a:endParaRPr kumimoji="1" lang="ja-JP" alt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065198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EDBFDC5-C25A-1CD9-F919-45996557B673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9514032" y="843487"/>
            <a:ext cx="0" cy="114522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左大括弧 3">
            <a:extLst>
              <a:ext uri="{FF2B5EF4-FFF2-40B4-BE49-F238E27FC236}">
                <a16:creationId xmlns:a16="http://schemas.microsoft.com/office/drawing/2014/main" id="{D1C1204A-6355-A2E5-FEB4-05DC4E824AA5}"/>
              </a:ext>
            </a:extLst>
          </p:cNvPr>
          <p:cNvSpPr/>
          <p:nvPr/>
        </p:nvSpPr>
        <p:spPr>
          <a:xfrm>
            <a:off x="7709493" y="2628900"/>
            <a:ext cx="120073" cy="27051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AD5D026-63AB-6D8D-B1DD-8E1DC732674D}"/>
              </a:ext>
            </a:extLst>
          </p:cNvPr>
          <p:cNvSpPr txBox="1"/>
          <p:nvPr/>
        </p:nvSpPr>
        <p:spPr>
          <a:xfrm>
            <a:off x="3048000" y="3827561"/>
            <a:ext cx="4471555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最終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selected_feature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的 list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所保留的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11 個 Features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5025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322EAF-7207-DC24-897D-38842FCB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Feature Scaling, Standardization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B6782BD-8911-3632-505B-38B3FE98E62C}"/>
              </a:ext>
            </a:extLst>
          </p:cNvPr>
          <p:cNvSpPr txBox="1"/>
          <p:nvPr/>
        </p:nvSpPr>
        <p:spPr>
          <a:xfrm>
            <a:off x="838200" y="1582340"/>
            <a:ext cx="8425705" cy="511935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scale_features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target_column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'quality'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"Standardization Features: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Feature Scaling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Use standardization (Z-score normalization) to make features have zero mean and unit variance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Feature Scaling ==="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Separate features and target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"Standardization X: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target_column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Initialize scaler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Fit and transform features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"Standardization 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X_scaled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new </a:t>
            </a:r>
            <a:r>
              <a:rPr lang="en-US" altLang="ja-JP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DataFrame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X_scaled_df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"Scaling completed!"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"Statistical summary after scaling:"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X_scaled_df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'std'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X_scaled_df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scaler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277FF6-8FC5-4ED4-12FD-E38A2F757556}"/>
              </a:ext>
            </a:extLst>
          </p:cNvPr>
          <p:cNvSpPr/>
          <p:nvPr/>
        </p:nvSpPr>
        <p:spPr>
          <a:xfrm>
            <a:off x="1238250" y="3225799"/>
            <a:ext cx="5080000" cy="2032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B2751A-D9B0-F85E-857A-40BF530798A2}"/>
              </a:ext>
            </a:extLst>
          </p:cNvPr>
          <p:cNvSpPr/>
          <p:nvPr/>
        </p:nvSpPr>
        <p:spPr>
          <a:xfrm>
            <a:off x="1238250" y="3594099"/>
            <a:ext cx="5080000" cy="2032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318994-882D-038A-1B41-B7E8C7B276E3}"/>
              </a:ext>
            </a:extLst>
          </p:cNvPr>
          <p:cNvSpPr/>
          <p:nvPr/>
        </p:nvSpPr>
        <p:spPr>
          <a:xfrm>
            <a:off x="1238250" y="4646216"/>
            <a:ext cx="5080000" cy="2032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7A71301-51A1-F3D6-0E29-D0A85F9A8CDA}"/>
              </a:ext>
            </a:extLst>
          </p:cNvPr>
          <p:cNvSpPr txBox="1"/>
          <p:nvPr/>
        </p:nvSpPr>
        <p:spPr>
          <a:xfrm>
            <a:off x="7065818" y="2702579"/>
            <a:ext cx="4859482" cy="523220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features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是已經經過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 Selection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處理過的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</a:t>
            </a:r>
          </a:p>
          <a:p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是將指定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features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dataframe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取出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0385AFD-A89C-1AB4-60BB-C9C313D26703}"/>
              </a:ext>
            </a:extLst>
          </p:cNvPr>
          <p:cNvSpPr txBox="1"/>
          <p:nvPr/>
        </p:nvSpPr>
        <p:spPr>
          <a:xfrm>
            <a:off x="7065818" y="3540990"/>
            <a:ext cx="4859482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是將指定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quality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dataframe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取出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CBB2514-8B07-A791-5E5D-4361804E2842}"/>
              </a:ext>
            </a:extLst>
          </p:cNvPr>
          <p:cNvSpPr txBox="1"/>
          <p:nvPr/>
        </p:nvSpPr>
        <p:spPr>
          <a:xfrm>
            <a:off x="7065818" y="4175719"/>
            <a:ext cx="4859482" cy="1169551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</a:t>
            </a:r>
            <a:r>
              <a:rPr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中所有值透過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Standardization </a:t>
            </a:r>
            <a:r>
              <a:rPr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轉為差距不會太大的區間</a:t>
            </a:r>
            <a:endParaRPr lang="en-US" altLang="ja-JP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（因為每一個 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的區間都不一樣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可能會使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在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Gradient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Descent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難以收斂</a:t>
            </a:r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ja-JP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x_scaled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 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list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58D24D4-8CFA-C4A9-334D-47A2F7B4A2E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6318250" y="4747817"/>
            <a:ext cx="747568" cy="1267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6DC9BFB-16E7-32FF-4287-AB3C363A0468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6318250" y="3694879"/>
            <a:ext cx="747568" cy="82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DDC8BDC-423C-A684-C94D-0680DD436FB8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6318250" y="2964189"/>
            <a:ext cx="747568" cy="36321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9D5F488-7E34-577D-6888-F2098164D6CB}"/>
              </a:ext>
            </a:extLst>
          </p:cNvPr>
          <p:cNvSpPr txBox="1"/>
          <p:nvPr/>
        </p:nvSpPr>
        <p:spPr>
          <a:xfrm>
            <a:off x="7065818" y="5711012"/>
            <a:ext cx="4859482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x_scaled_df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是將 </a:t>
            </a:r>
            <a:r>
              <a:rPr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x_scaled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是轉為 </a:t>
            </a:r>
            <a:r>
              <a:rPr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dataframe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EF75F080-EA87-A771-8393-1DE5307B4D49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>
            <a:off x="6318250" y="5446871"/>
            <a:ext cx="747568" cy="41803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36797C1-A023-9BB1-306D-B9A4576E93C8}"/>
              </a:ext>
            </a:extLst>
          </p:cNvPr>
          <p:cNvSpPr/>
          <p:nvPr/>
        </p:nvSpPr>
        <p:spPr>
          <a:xfrm>
            <a:off x="1238250" y="5345270"/>
            <a:ext cx="5080000" cy="2032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400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938EB6-78E5-028D-6493-91916F8B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Feature Scaling, Standardization</a:t>
            </a:r>
            <a:endParaRPr kumimoji="1" lang="ja-JP" altLang="en-US" dirty="0"/>
          </a:p>
        </p:txBody>
      </p:sp>
      <p:pic>
        <p:nvPicPr>
          <p:cNvPr id="2050" name="Picture 2" descr="Feature Scaling. Why do we use Feature Scaling in… | by Baran ...">
            <a:extLst>
              <a:ext uri="{FF2B5EF4-FFF2-40B4-BE49-F238E27FC236}">
                <a16:creationId xmlns:a16="http://schemas.microsoft.com/office/drawing/2014/main" id="{43A3CFB2-4765-BF81-7E9E-1B31ADEBC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437" y="1882247"/>
            <a:ext cx="5726180" cy="348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156B9AB-A74D-C44A-F133-01BB6D9FA826}"/>
              </a:ext>
            </a:extLst>
          </p:cNvPr>
          <p:cNvSpPr txBox="1"/>
          <p:nvPr/>
        </p:nvSpPr>
        <p:spPr>
          <a:xfrm>
            <a:off x="838199" y="4719781"/>
            <a:ext cx="4859482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Standardization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又稱為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Z-score Normalization 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4" name="Picture 6" descr="Standardization vs Normalization: The Feature Scaler Role - NBD ...">
            <a:extLst>
              <a:ext uri="{FF2B5EF4-FFF2-40B4-BE49-F238E27FC236}">
                <a16:creationId xmlns:a16="http://schemas.microsoft.com/office/drawing/2014/main" id="{E81642BC-4F0A-0E71-B13B-D6961A80D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762293"/>
            <a:ext cx="4345600" cy="235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618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D0C64E-984E-C3CE-B96D-75589D74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Feature Scaling, Standardization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740118-B067-A732-DA9A-0E5ED7B58BF5}"/>
              </a:ext>
            </a:extLst>
          </p:cNvPr>
          <p:cNvSpPr txBox="1"/>
          <p:nvPr/>
        </p:nvSpPr>
        <p:spPr>
          <a:xfrm>
            <a:off x="625763" y="2244454"/>
            <a:ext cx="8444345" cy="78483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Consolas" panose="020B0609020204030204" pitchFamily="49" charset="0"/>
              </a:rPr>
              <a:t> alcohol  volatile acidity  sulphates  citric acid  ...  </a:t>
            </a:r>
            <a:r>
              <a:rPr lang="en-US" altLang="ja-JP" sz="900" dirty="0" err="1">
                <a:latin typeface="Consolas" panose="020B0609020204030204" pitchFamily="49" charset="0"/>
              </a:rPr>
              <a:t>alcohol_acidity_ratio</a:t>
            </a:r>
            <a:r>
              <a:rPr lang="en-US" altLang="ja-JP" sz="900" dirty="0">
                <a:latin typeface="Consolas" panose="020B0609020204030204" pitchFamily="49" charset="0"/>
              </a:rPr>
              <a:t>  chlorides  fixed acidity  </a:t>
            </a:r>
            <a:r>
              <a:rPr lang="en-US" altLang="ja-JP" sz="900" dirty="0" err="1">
                <a:latin typeface="Consolas" panose="020B0609020204030204" pitchFamily="49" charset="0"/>
              </a:rPr>
              <a:t>acid_balance</a:t>
            </a:r>
            <a:endParaRPr lang="en-US" altLang="ja-JP" sz="900" dirty="0">
              <a:latin typeface="Consolas" panose="020B0609020204030204" pitchFamily="49" charset="0"/>
            </a:endParaRPr>
          </a:p>
          <a:p>
            <a:r>
              <a:rPr lang="en-US" altLang="ja-JP" sz="900" dirty="0">
                <a:latin typeface="Consolas" panose="020B0609020204030204" pitchFamily="49" charset="0"/>
              </a:rPr>
              <a:t>0         9.4             0.700       0.56         0.00  ...               1.160494      0.076            7.4      2.108262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1         9.8             0.880       0.68         0.00  ...               1.129032      0.098            7.8      2.437500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2         9.8             0.760       0.65         0.04  ...               1.139535      0.092            7.8      2.392638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3         9.8             0.280       0.58         0.56  ...               0.813953      0.075           11.2      3.544304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BAB1B31-A674-6A0A-F46B-40F215D4E09A}"/>
              </a:ext>
            </a:extLst>
          </p:cNvPr>
          <p:cNvSpPr txBox="1"/>
          <p:nvPr/>
        </p:nvSpPr>
        <p:spPr>
          <a:xfrm>
            <a:off x="625762" y="4470417"/>
            <a:ext cx="8444345" cy="78483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Consolas" panose="020B0609020204030204" pitchFamily="49" charset="0"/>
              </a:rPr>
              <a:t> alcohol  volatile acidity  sulphates  citric acid  ...  </a:t>
            </a:r>
            <a:r>
              <a:rPr lang="en-US" altLang="ja-JP" sz="900" dirty="0" err="1">
                <a:latin typeface="Consolas" panose="020B0609020204030204" pitchFamily="49" charset="0"/>
              </a:rPr>
              <a:t>alcohol_acidity_ratio</a:t>
            </a:r>
            <a:r>
              <a:rPr lang="en-US" altLang="ja-JP" sz="900" dirty="0">
                <a:latin typeface="Consolas" panose="020B0609020204030204" pitchFamily="49" charset="0"/>
              </a:rPr>
              <a:t>  chlorides  fixed acidity  </a:t>
            </a:r>
            <a:r>
              <a:rPr lang="en-US" altLang="ja-JP" sz="900" dirty="0" err="1">
                <a:latin typeface="Consolas" panose="020B0609020204030204" pitchFamily="49" charset="0"/>
              </a:rPr>
              <a:t>acid_balance</a:t>
            </a:r>
            <a:endParaRPr lang="en-US" altLang="ja-JP" sz="900" dirty="0">
              <a:latin typeface="Consolas" panose="020B0609020204030204" pitchFamily="49" charset="0"/>
            </a:endParaRPr>
          </a:p>
          <a:p>
            <a:r>
              <a:rPr lang="en-US" altLang="ja-JP" sz="900" dirty="0">
                <a:latin typeface="Consolas" panose="020B0609020204030204" pitchFamily="49" charset="0"/>
              </a:rPr>
              <a:t>0    -0.954374          0.932000  -0.578561    -1.393258  ...              -0.108607  -0.245623      -0.524431     -0.682477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1    -0.584575          1.915800   0.124822    -1.393258  ...              -0.219785   0.200094      -0.294063     -0.153885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2    -0.584575          1.259934  -0.051024    -1.188617  ...              -0.182671   0.078535      -0.294063     -0.225911</a:t>
            </a:r>
          </a:p>
          <a:p>
            <a:r>
              <a:rPr lang="en-US" altLang="ja-JP" sz="900" dirty="0">
                <a:latin typeface="Consolas" panose="020B0609020204030204" pitchFamily="49" charset="0"/>
              </a:rPr>
              <a:t>3    -0.584575         -1.363534  -0.461331     1.471711  ...              -1.333194  -0.265883       1.664067      1.62309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E06CB6-BDDB-063B-C15C-9564EEB42B83}"/>
              </a:ext>
            </a:extLst>
          </p:cNvPr>
          <p:cNvSpPr txBox="1"/>
          <p:nvPr/>
        </p:nvSpPr>
        <p:spPr>
          <a:xfrm>
            <a:off x="9224816" y="2721507"/>
            <a:ext cx="2680856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Non-Standardization Data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7D85B01-7373-E27C-F2F9-5E392007AF7D}"/>
              </a:ext>
            </a:extLst>
          </p:cNvPr>
          <p:cNvSpPr txBox="1"/>
          <p:nvPr/>
        </p:nvSpPr>
        <p:spPr>
          <a:xfrm>
            <a:off x="9224816" y="4947470"/>
            <a:ext cx="2680856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Standardization Data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F76DC5B-3933-93B4-5495-ED089D8A90D1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4847935" y="3029284"/>
            <a:ext cx="1" cy="14411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2A076DA-B435-C023-EF8E-DF67B5A3A15F}"/>
              </a:ext>
            </a:extLst>
          </p:cNvPr>
          <p:cNvSpPr txBox="1"/>
          <p:nvPr/>
        </p:nvSpPr>
        <p:spPr>
          <a:xfrm>
            <a:off x="5105629" y="3565184"/>
            <a:ext cx="1888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Standardization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4480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B4A665-5397-06F6-E1E4-64CB4880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Splitting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B8679D1-3198-976D-0179-577101575BC7}"/>
              </a:ext>
            </a:extLst>
          </p:cNvPr>
          <p:cNvSpPr txBox="1"/>
          <p:nvPr/>
        </p:nvSpPr>
        <p:spPr>
          <a:xfrm>
            <a:off x="838200" y="1582340"/>
            <a:ext cx="7576113" cy="296491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split_data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Split data into training and testing sets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Data Splitting ==="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stratify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"Training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set size: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"Testing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set size: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"Training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set target distribution: 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.value_counts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sort_index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"Testing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set target distribution: 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.value_counts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sort_index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5785A5-942C-2087-754B-A231902CB8AB}"/>
              </a:ext>
            </a:extLst>
          </p:cNvPr>
          <p:cNvSpPr/>
          <p:nvPr/>
        </p:nvSpPr>
        <p:spPr>
          <a:xfrm>
            <a:off x="1219777" y="2704702"/>
            <a:ext cx="5864514" cy="5372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5EC86BC-F068-647C-6C9C-D804AEDD615B}"/>
              </a:ext>
            </a:extLst>
          </p:cNvPr>
          <p:cNvSpPr txBox="1"/>
          <p:nvPr/>
        </p:nvSpPr>
        <p:spPr>
          <a:xfrm>
            <a:off x="7842821" y="2704702"/>
            <a:ext cx="4082472" cy="523220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 Dataset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切割為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Training Set 與 Testing Set</a:t>
            </a:r>
          </a:p>
          <a:p>
            <a:pPr algn="ctr"/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Dataset </a:t>
            </a:r>
            <a:r>
              <a: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切割為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8:2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E931731B-C94C-3CF5-9923-5B6300CF53C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084291" y="2966312"/>
            <a:ext cx="758530" cy="702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007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3DB75-5403-9BB7-8A37-714B5580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PCA Applying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27B9573-7AA8-98A1-B7A4-71A06A7B4C23}"/>
              </a:ext>
            </a:extLst>
          </p:cNvPr>
          <p:cNvSpPr txBox="1"/>
          <p:nvPr/>
        </p:nvSpPr>
        <p:spPr>
          <a:xfrm>
            <a:off x="838200" y="1582340"/>
            <a:ext cx="8170827" cy="242630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apply_pca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n_components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Apply PCA for dimensionality reduction and visualization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PCA Dimensionality Reduction ==="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n_components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n_components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X_pca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"Explained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variance ratio: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explained_variance_ratio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"Cumulative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explained variance ratio: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ja-JP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US" altLang="ja-JP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explained_variance_ratio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:.4f}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X_pca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9C5D3A-DF24-084F-21E4-AE1AB13E0DD5}"/>
              </a:ext>
            </a:extLst>
          </p:cNvPr>
          <p:cNvSpPr/>
          <p:nvPr/>
        </p:nvSpPr>
        <p:spPr>
          <a:xfrm>
            <a:off x="1219777" y="2704702"/>
            <a:ext cx="5864514" cy="38024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60BA511-BC8A-3A9A-C35C-EAED1F1A1EA6}"/>
              </a:ext>
            </a:extLst>
          </p:cNvPr>
          <p:cNvSpPr txBox="1"/>
          <p:nvPr/>
        </p:nvSpPr>
        <p:spPr>
          <a:xfrm>
            <a:off x="7815112" y="2522268"/>
            <a:ext cx="4082472" cy="738664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PCA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主要目的在做</a:t>
            </a:r>
            <a:r>
              <a: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Dimensionality Reduction</a:t>
            </a:r>
          </a:p>
          <a:p>
            <a:pPr algn="ctr"/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但因為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red wine dataset </a:t>
            </a:r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feature </a:t>
            </a:r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不多</a:t>
            </a:r>
            <a:endParaRPr kumimoji="1" lang="en-US" altLang="ja-JP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這裡的目的主要是呈現在圖表上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BB68C22-96DB-C3F8-B34B-9D1337B2FAA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084291" y="2891600"/>
            <a:ext cx="730821" cy="322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3FFA87-A098-8245-2970-DD9B6D6B041A}"/>
              </a:ext>
            </a:extLst>
          </p:cNvPr>
          <p:cNvSpPr txBox="1"/>
          <p:nvPr/>
        </p:nvSpPr>
        <p:spPr>
          <a:xfrm>
            <a:off x="1219777" y="4557027"/>
            <a:ext cx="6214924" cy="307777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n_components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設定為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2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代表要做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Dimension </a:t>
            </a:r>
            <a:r>
              <a:rPr kumimoji="1" lang="en-US" altLang="ja-JP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要降到</a:t>
            </a:r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2-dimension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0058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F48D84-56C3-2DED-A4C3-72E6A27DF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Preprocessing Pipeline</a:t>
            </a:r>
            <a:endParaRPr kumimoji="1" lang="ja-JP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BBED9CE-8453-1443-5E51-2AD0E81C25F1}"/>
              </a:ext>
            </a:extLst>
          </p:cNvPr>
          <p:cNvSpPr txBox="1"/>
          <p:nvPr/>
        </p:nvSpPr>
        <p:spPr>
          <a:xfrm>
            <a:off x="838200" y="1582340"/>
            <a:ext cx="8000908" cy="511935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complete_preprocessing_pipeline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file_path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'dataset/winequality-red.csv'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Step 1: Load data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load_wine_data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file_path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Step 2: Data exploration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explore_data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Step 3: Data cleaning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clean_data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Step 4: Feature engineering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feature_engineering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Step 5: Feature selection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selected_features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select_features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Step 6: Feature scaling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scale_features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df_engineered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selected_features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Step 7: Data splitting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split_data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Step 8: Optional PCA analysis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X_pca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apply_pca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X_scaled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all necessary results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Necessary Dictionary Code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endParaRPr lang="en-US" altLang="ja-JP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124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09D660-ACDE-2BDE-92F5-372E3CC6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PreProcessing</a:t>
            </a:r>
            <a:r>
              <a:rPr kumimoji="1" lang="en-US" altLang="ja-JP" dirty="0"/>
              <a:t> Pipeline</a:t>
            </a:r>
            <a:endParaRPr kumimoji="1" lang="ja-JP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9F2B969-9BF5-223D-C888-817E7958C380}"/>
              </a:ext>
            </a:extLst>
          </p:cNvPr>
          <p:cNvSpPr/>
          <p:nvPr/>
        </p:nvSpPr>
        <p:spPr>
          <a:xfrm>
            <a:off x="838200" y="2530764"/>
            <a:ext cx="2059709" cy="8497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loading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B4E02A7-3D14-B2B7-CA93-88C65572EE04}"/>
              </a:ext>
            </a:extLst>
          </p:cNvPr>
          <p:cNvSpPr/>
          <p:nvPr/>
        </p:nvSpPr>
        <p:spPr>
          <a:xfrm>
            <a:off x="10002937" y="2530764"/>
            <a:ext cx="2059709" cy="8497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 engineering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7840DF9-B9FE-488A-72FA-387E1FB4BF48}"/>
              </a:ext>
            </a:extLst>
          </p:cNvPr>
          <p:cNvSpPr/>
          <p:nvPr/>
        </p:nvSpPr>
        <p:spPr>
          <a:xfrm>
            <a:off x="10002936" y="4220586"/>
            <a:ext cx="2059709" cy="8497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 selection</a:t>
            </a:r>
          </a:p>
          <a:p>
            <a:pPr algn="ctr"/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(Correlation)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1EC7461-4EFC-2A92-B12C-DD8EF179DDF1}"/>
              </a:ext>
            </a:extLst>
          </p:cNvPr>
          <p:cNvSpPr/>
          <p:nvPr/>
        </p:nvSpPr>
        <p:spPr>
          <a:xfrm>
            <a:off x="7946690" y="5697700"/>
            <a:ext cx="4112491" cy="8497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 scaling</a:t>
            </a:r>
          </a:p>
          <a:p>
            <a:pPr algn="ctr"/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(Normalization or </a:t>
            </a:r>
            <a:r>
              <a:rPr kumimoji="1" lang="en-US" altLang="ja-JP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Stradardization</a:t>
            </a:r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65A09F5-6B78-E460-D498-C08195BEE691}"/>
              </a:ext>
            </a:extLst>
          </p:cNvPr>
          <p:cNvSpPr/>
          <p:nvPr/>
        </p:nvSpPr>
        <p:spPr>
          <a:xfrm>
            <a:off x="3691184" y="5697700"/>
            <a:ext cx="3774517" cy="8497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splitting</a:t>
            </a:r>
          </a:p>
          <a:p>
            <a:pPr algn="ctr"/>
            <a:r>
              <a: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(Training Set and Testing Set)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4FCF7E8-4ADB-EE0D-BBB7-F058A09C3536}"/>
              </a:ext>
            </a:extLst>
          </p:cNvPr>
          <p:cNvSpPr/>
          <p:nvPr/>
        </p:nvSpPr>
        <p:spPr>
          <a:xfrm>
            <a:off x="838200" y="5697700"/>
            <a:ext cx="2059709" cy="8497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PCA applying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4A90F16-3241-ED00-6D62-BCD88CDD0352}"/>
              </a:ext>
            </a:extLst>
          </p:cNvPr>
          <p:cNvSpPr/>
          <p:nvPr/>
        </p:nvSpPr>
        <p:spPr>
          <a:xfrm>
            <a:off x="1590963" y="1450542"/>
            <a:ext cx="554182" cy="55418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F49D906-15D6-6A80-5D54-160E8F0DB40F}"/>
              </a:ext>
            </a:extLst>
          </p:cNvPr>
          <p:cNvCxnSpPr>
            <a:stCxn id="11" idx="4"/>
            <a:endCxn id="3" idx="0"/>
          </p:cNvCxnSpPr>
          <p:nvPr/>
        </p:nvCxnSpPr>
        <p:spPr>
          <a:xfrm>
            <a:off x="1868054" y="2004724"/>
            <a:ext cx="1" cy="526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7FAD629-4EB2-8763-66AE-5D88D5206CBB}"/>
              </a:ext>
            </a:extLst>
          </p:cNvPr>
          <p:cNvSpPr txBox="1"/>
          <p:nvPr/>
        </p:nvSpPr>
        <p:spPr>
          <a:xfrm>
            <a:off x="1868054" y="2129244"/>
            <a:ext cx="2193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dataset: winequality-red.csv</a:t>
            </a:r>
            <a:endParaRPr kumimoji="1" lang="ja-JP" altLang="en-US" sz="1200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0D53F45-EC13-90F9-194D-BAB9215478D0}"/>
              </a:ext>
            </a:extLst>
          </p:cNvPr>
          <p:cNvSpPr/>
          <p:nvPr/>
        </p:nvSpPr>
        <p:spPr>
          <a:xfrm>
            <a:off x="4484459" y="1478252"/>
            <a:ext cx="2193228" cy="29621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exploration</a:t>
            </a:r>
            <a:endParaRPr kumimoji="1"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C8A3549E-D87E-1BAD-EC40-B5111FD444E3}"/>
              </a:ext>
            </a:extLst>
          </p:cNvPr>
          <p:cNvSpPr/>
          <p:nvPr/>
        </p:nvSpPr>
        <p:spPr>
          <a:xfrm>
            <a:off x="4763281" y="2803815"/>
            <a:ext cx="1635584" cy="6480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missing value</a:t>
            </a:r>
            <a:endParaRPr kumimoji="1"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75A26582-EF34-AD89-9D42-D71C7B2C7E69}"/>
              </a:ext>
            </a:extLst>
          </p:cNvPr>
          <p:cNvSpPr/>
          <p:nvPr/>
        </p:nvSpPr>
        <p:spPr>
          <a:xfrm>
            <a:off x="5405366" y="2119101"/>
            <a:ext cx="351415" cy="35141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DAB5DB40-58F5-AE2B-49C4-DA63FAFBE37A}"/>
              </a:ext>
            </a:extLst>
          </p:cNvPr>
          <p:cNvCxnSpPr>
            <a:cxnSpLocks/>
            <a:stCxn id="20" idx="4"/>
            <a:endCxn id="15" idx="0"/>
          </p:cNvCxnSpPr>
          <p:nvPr/>
        </p:nvCxnSpPr>
        <p:spPr>
          <a:xfrm flipH="1">
            <a:off x="5581073" y="2470516"/>
            <a:ext cx="1" cy="3332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86F99A03-55A0-4DAE-73A6-9B8AE10EF2E9}"/>
              </a:ext>
            </a:extLst>
          </p:cNvPr>
          <p:cNvGrpSpPr/>
          <p:nvPr/>
        </p:nvGrpSpPr>
        <p:grpSpPr>
          <a:xfrm>
            <a:off x="5397443" y="3735760"/>
            <a:ext cx="367259" cy="367259"/>
            <a:chOff x="7651067" y="1183840"/>
            <a:chExt cx="467846" cy="467846"/>
          </a:xfrm>
        </p:grpSpPr>
        <p:sp>
          <p:nvSpPr>
            <p:cNvPr id="26" name="圓形: 空心 25">
              <a:extLst>
                <a:ext uri="{FF2B5EF4-FFF2-40B4-BE49-F238E27FC236}">
                  <a16:creationId xmlns:a16="http://schemas.microsoft.com/office/drawing/2014/main" id="{7E7D29CF-35E8-9E12-69BD-FA1B7BAB9D63}"/>
                </a:ext>
              </a:extLst>
            </p:cNvPr>
            <p:cNvSpPr/>
            <p:nvPr/>
          </p:nvSpPr>
          <p:spPr>
            <a:xfrm>
              <a:off x="7651067" y="1183840"/>
              <a:ext cx="467846" cy="467846"/>
            </a:xfrm>
            <a:prstGeom prst="don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56499B0-AD5A-BEF9-B7AD-8CDC21269E4B}"/>
                </a:ext>
              </a:extLst>
            </p:cNvPr>
            <p:cNvSpPr/>
            <p:nvPr/>
          </p:nvSpPr>
          <p:spPr>
            <a:xfrm>
              <a:off x="7709282" y="1242055"/>
              <a:ext cx="351415" cy="35141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E158829-D030-7065-C689-DA73B5982FEF}"/>
              </a:ext>
            </a:extLst>
          </p:cNvPr>
          <p:cNvCxnSpPr>
            <a:cxnSpLocks/>
            <a:stCxn id="15" idx="2"/>
            <a:endCxn id="26" idx="0"/>
          </p:cNvCxnSpPr>
          <p:nvPr/>
        </p:nvCxnSpPr>
        <p:spPr>
          <a:xfrm>
            <a:off x="5581073" y="3451901"/>
            <a:ext cx="0" cy="283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BBD5D0E-4662-9F53-B980-58443CB84D25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897909" y="2955637"/>
            <a:ext cx="1586550" cy="3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7564B5E1-5C8D-1E5F-A997-52745E714CE8}"/>
              </a:ext>
            </a:extLst>
          </p:cNvPr>
          <p:cNvGrpSpPr/>
          <p:nvPr/>
        </p:nvGrpSpPr>
        <p:grpSpPr>
          <a:xfrm>
            <a:off x="7310752" y="1076026"/>
            <a:ext cx="2059709" cy="3771928"/>
            <a:chOff x="7652328" y="1478252"/>
            <a:chExt cx="2059709" cy="3771928"/>
          </a:xfrm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7E90D565-2A7A-E4C2-FA76-C8A5F6E053B4}"/>
                </a:ext>
              </a:extLst>
            </p:cNvPr>
            <p:cNvSpPr/>
            <p:nvPr/>
          </p:nvSpPr>
          <p:spPr>
            <a:xfrm>
              <a:off x="7652328" y="1478252"/>
              <a:ext cx="2059709" cy="37719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data cleaning</a:t>
              </a:r>
              <a:endPara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矩形: 圓角 38">
              <a:extLst>
                <a:ext uri="{FF2B5EF4-FFF2-40B4-BE49-F238E27FC236}">
                  <a16:creationId xmlns:a16="http://schemas.microsoft.com/office/drawing/2014/main" id="{261E889E-59E8-BA7F-2BA6-C863AF2A1AFB}"/>
                </a:ext>
              </a:extLst>
            </p:cNvPr>
            <p:cNvSpPr/>
            <p:nvPr/>
          </p:nvSpPr>
          <p:spPr>
            <a:xfrm>
              <a:off x="7864390" y="2803815"/>
              <a:ext cx="1635584" cy="64808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check duplicate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83FAF11D-C064-018B-F5E7-5D438E6E0ADB}"/>
                </a:ext>
              </a:extLst>
            </p:cNvPr>
            <p:cNvSpPr/>
            <p:nvPr/>
          </p:nvSpPr>
          <p:spPr>
            <a:xfrm>
              <a:off x="8506474" y="2090855"/>
              <a:ext cx="351415" cy="35141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871357AC-1D9A-97D0-0D17-871E97A3D3C3}"/>
                </a:ext>
              </a:extLst>
            </p:cNvPr>
            <p:cNvCxnSpPr>
              <a:cxnSpLocks/>
              <a:stCxn id="40" idx="4"/>
              <a:endCxn id="39" idx="0"/>
            </p:cNvCxnSpPr>
            <p:nvPr/>
          </p:nvCxnSpPr>
          <p:spPr>
            <a:xfrm>
              <a:off x="8682182" y="2442270"/>
              <a:ext cx="0" cy="3615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C9D53477-1FBB-7E30-1A81-2F784EA011ED}"/>
                </a:ext>
              </a:extLst>
            </p:cNvPr>
            <p:cNvGrpSpPr/>
            <p:nvPr/>
          </p:nvGrpSpPr>
          <p:grpSpPr>
            <a:xfrm>
              <a:off x="8498553" y="4788554"/>
              <a:ext cx="367259" cy="367259"/>
              <a:chOff x="7651067" y="1183840"/>
              <a:chExt cx="467846" cy="467846"/>
            </a:xfrm>
          </p:grpSpPr>
          <p:sp>
            <p:nvSpPr>
              <p:cNvPr id="44" name="圓形: 空心 43">
                <a:extLst>
                  <a:ext uri="{FF2B5EF4-FFF2-40B4-BE49-F238E27FC236}">
                    <a16:creationId xmlns:a16="http://schemas.microsoft.com/office/drawing/2014/main" id="{195229AF-D772-163A-E8FC-62FFF4DE3D58}"/>
                  </a:ext>
                </a:extLst>
              </p:cNvPr>
              <p:cNvSpPr/>
              <p:nvPr/>
            </p:nvSpPr>
            <p:spPr>
              <a:xfrm>
                <a:off x="7651067" y="1183840"/>
                <a:ext cx="467846" cy="467846"/>
              </a:xfrm>
              <a:prstGeom prst="donu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3C4EE0D1-C4D7-044E-4B09-992F2B4DB3FF}"/>
                  </a:ext>
                </a:extLst>
              </p:cNvPr>
              <p:cNvSpPr/>
              <p:nvPr/>
            </p:nvSpPr>
            <p:spPr>
              <a:xfrm>
                <a:off x="7709282" y="1242055"/>
                <a:ext cx="351415" cy="351415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963DA708-2AB3-79FE-DF64-1979165A313D}"/>
                </a:ext>
              </a:extLst>
            </p:cNvPr>
            <p:cNvCxnSpPr>
              <a:cxnSpLocks/>
              <a:stCxn id="47" idx="2"/>
              <a:endCxn id="44" idx="0"/>
            </p:cNvCxnSpPr>
            <p:nvPr/>
          </p:nvCxnSpPr>
          <p:spPr>
            <a:xfrm>
              <a:off x="8682182" y="4333623"/>
              <a:ext cx="1" cy="4549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: 圓角 46">
              <a:extLst>
                <a:ext uri="{FF2B5EF4-FFF2-40B4-BE49-F238E27FC236}">
                  <a16:creationId xmlns:a16="http://schemas.microsoft.com/office/drawing/2014/main" id="{CDB86743-5E2A-77BD-E007-5B0917F377C2}"/>
                </a:ext>
              </a:extLst>
            </p:cNvPr>
            <p:cNvSpPr/>
            <p:nvPr/>
          </p:nvSpPr>
          <p:spPr>
            <a:xfrm>
              <a:off x="7864390" y="3685537"/>
              <a:ext cx="1635584" cy="64808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check outlier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B79837CB-B56F-567B-21DB-958841CCF7BF}"/>
                </a:ext>
              </a:extLst>
            </p:cNvPr>
            <p:cNvCxnSpPr>
              <a:cxnSpLocks/>
              <a:stCxn id="39" idx="2"/>
              <a:endCxn id="47" idx="0"/>
            </p:cNvCxnSpPr>
            <p:nvPr/>
          </p:nvCxnSpPr>
          <p:spPr>
            <a:xfrm>
              <a:off x="8682182" y="3451901"/>
              <a:ext cx="0" cy="2336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8FA2DD79-80A3-1AB9-018B-54BD3952A8E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6677687" y="2959349"/>
            <a:ext cx="633065" cy="26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F38E0A44-98BE-2E5B-8B8B-00BCB0B2F3A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9370461" y="2955637"/>
            <a:ext cx="632476" cy="6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923E7DEB-1396-F8D2-6551-C5E6ECD5D8D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11032791" y="3380510"/>
            <a:ext cx="1" cy="840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E44632AF-C5BF-0EE6-7CBF-3703F2BEFF6D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10002936" y="5070332"/>
            <a:ext cx="1029855" cy="6273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F80F3C98-A449-3650-7565-61484546D7E1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7465701" y="6122573"/>
            <a:ext cx="480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2C789038-134A-9DA0-9798-6919A954379F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2897909" y="6122573"/>
            <a:ext cx="7932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885F99AA-D8CD-AEC9-A5DB-38EF84EC73BB}"/>
              </a:ext>
            </a:extLst>
          </p:cNvPr>
          <p:cNvGrpSpPr/>
          <p:nvPr/>
        </p:nvGrpSpPr>
        <p:grpSpPr>
          <a:xfrm>
            <a:off x="1590962" y="4263698"/>
            <a:ext cx="542955" cy="542955"/>
            <a:chOff x="7651067" y="1183840"/>
            <a:chExt cx="467846" cy="467846"/>
          </a:xfrm>
        </p:grpSpPr>
        <p:sp>
          <p:nvSpPr>
            <p:cNvPr id="79" name="圓形: 空心 78">
              <a:extLst>
                <a:ext uri="{FF2B5EF4-FFF2-40B4-BE49-F238E27FC236}">
                  <a16:creationId xmlns:a16="http://schemas.microsoft.com/office/drawing/2014/main" id="{8E4AC6D6-A48F-DE12-3E55-95076D44BA94}"/>
                </a:ext>
              </a:extLst>
            </p:cNvPr>
            <p:cNvSpPr/>
            <p:nvPr/>
          </p:nvSpPr>
          <p:spPr>
            <a:xfrm>
              <a:off x="7651067" y="1183840"/>
              <a:ext cx="467846" cy="467846"/>
            </a:xfrm>
            <a:prstGeom prst="don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370F8AAA-42C0-E97D-97BC-700BADFB03F2}"/>
                </a:ext>
              </a:extLst>
            </p:cNvPr>
            <p:cNvSpPr/>
            <p:nvPr/>
          </p:nvSpPr>
          <p:spPr>
            <a:xfrm>
              <a:off x="7709282" y="1242055"/>
              <a:ext cx="351415" cy="35141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30DBCA5C-0775-E7C8-CBBC-73BEED685AD4}"/>
              </a:ext>
            </a:extLst>
          </p:cNvPr>
          <p:cNvCxnSpPr>
            <a:stCxn id="10" idx="0"/>
            <a:endCxn id="79" idx="4"/>
          </p:cNvCxnSpPr>
          <p:nvPr/>
        </p:nvCxnSpPr>
        <p:spPr>
          <a:xfrm flipH="1" flipV="1">
            <a:off x="1862440" y="4806653"/>
            <a:ext cx="5615" cy="891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71FE4AF-87E8-2E53-DDD9-01EE6D22EDB3}"/>
              </a:ext>
            </a:extLst>
          </p:cNvPr>
          <p:cNvSpPr txBox="1"/>
          <p:nvPr/>
        </p:nvSpPr>
        <p:spPr>
          <a:xfrm>
            <a:off x="1868054" y="5130459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result</a:t>
            </a:r>
            <a:endParaRPr kumimoji="1" lang="ja-JP" altLang="en-US" sz="1200" dirty="0"/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E77B3734-60D6-EADD-518C-4FDC5C9DE835}"/>
              </a:ext>
            </a:extLst>
          </p:cNvPr>
          <p:cNvSpPr txBox="1"/>
          <p:nvPr/>
        </p:nvSpPr>
        <p:spPr>
          <a:xfrm>
            <a:off x="7946690" y="223237"/>
            <a:ext cx="3913065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沒有命名的</a:t>
            </a:r>
            <a:r>
              <a: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dges </a:t>
            </a:r>
            <a:r>
              <a: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表示為來自上一個 </a:t>
            </a:r>
            <a:r>
              <a: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State </a:t>
            </a:r>
            <a:r>
              <a:rPr kumimoji="1" lang="en-US" altLang="ja-JP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所產生的</a:t>
            </a:r>
            <a:r>
              <a: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ja-JP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Dataframe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010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4066</Words>
  <Application>Microsoft Office PowerPoint</Application>
  <PresentationFormat>寬螢幕</PresentationFormat>
  <Paragraphs>797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1" baseType="lpstr">
      <vt:lpstr>游ゴシック</vt:lpstr>
      <vt:lpstr>微軟正黑體</vt:lpstr>
      <vt:lpstr>Arial</vt:lpstr>
      <vt:lpstr>Cambria Math</vt:lpstr>
      <vt:lpstr>Consolas</vt:lpstr>
      <vt:lpstr>Office 佈景主題</vt:lpstr>
      <vt:lpstr>Data Preprocessing</vt:lpstr>
      <vt:lpstr>Function Definition</vt:lpstr>
      <vt:lpstr>Dataset Introduction</vt:lpstr>
      <vt:lpstr>Dataset Introduction</vt:lpstr>
      <vt:lpstr>Dataset Introduction</vt:lpstr>
      <vt:lpstr>Dataset Introduction</vt:lpstr>
      <vt:lpstr>Data Loading</vt:lpstr>
      <vt:lpstr>Data Loading</vt:lpstr>
      <vt:lpstr>Data Loading</vt:lpstr>
      <vt:lpstr>Data Loading</vt:lpstr>
      <vt:lpstr>Data Exploration</vt:lpstr>
      <vt:lpstr>Data Exploration</vt:lpstr>
      <vt:lpstr>Data Cleaning</vt:lpstr>
      <vt:lpstr>Data Cleaning – Handle Duplicate</vt:lpstr>
      <vt:lpstr>Data Cleaning – Handle Duplicate</vt:lpstr>
      <vt:lpstr>Data Cleaning – Handle Outlier</vt:lpstr>
      <vt:lpstr>Data Cleaning – Handle Outlier</vt:lpstr>
      <vt:lpstr>Data Cleaning – Handle Outlier</vt:lpstr>
      <vt:lpstr>Data Cleaning – Handle Outlier</vt:lpstr>
      <vt:lpstr>Feature Engineering</vt:lpstr>
      <vt:lpstr>Feature Engineering</vt:lpstr>
      <vt:lpstr>Feature Engineering</vt:lpstr>
      <vt:lpstr>Feature Selection</vt:lpstr>
      <vt:lpstr>Feature Selection</vt:lpstr>
      <vt:lpstr>Feature Selection</vt:lpstr>
      <vt:lpstr>Feature Selection</vt:lpstr>
      <vt:lpstr>Feature Selection</vt:lpstr>
      <vt:lpstr>Feature Selection</vt:lpstr>
      <vt:lpstr>Feature Scaling, Standardization</vt:lpstr>
      <vt:lpstr>Feature Scaling, Standardization</vt:lpstr>
      <vt:lpstr>Feature Scaling, Standardization</vt:lpstr>
      <vt:lpstr>Data Splitting</vt:lpstr>
      <vt:lpstr>PCA Applying</vt:lpstr>
      <vt:lpstr>Preprocessing Pipeline</vt:lpstr>
      <vt:lpstr>PreProcessing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萬宸維 WAN CHEN WEI</dc:creator>
  <cp:lastModifiedBy>萬宸維 WAN CHEN WEI</cp:lastModifiedBy>
  <cp:revision>50</cp:revision>
  <dcterms:created xsi:type="dcterms:W3CDTF">2025-12-28T03:50:35Z</dcterms:created>
  <dcterms:modified xsi:type="dcterms:W3CDTF">2025-12-28T09:47:46Z</dcterms:modified>
</cp:coreProperties>
</file>